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68C49C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5_D5219A72.xml" ContentType="application/vnd.ms-powerpoint.comments+xml"/>
  <Override PartName="/ppt/comments/modernComment_106_843EF52F.xml" ContentType="application/vnd.ms-powerpoint.comments+xml"/>
  <Override PartName="/ppt/comments/modernComment_107_7BAF3997.xml" ContentType="application/vnd.ms-powerpoint.comments+xml"/>
  <Override PartName="/ppt/comments/modernComment_108_CDC7352F.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9_6505701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616D74B-606D-246E-6519-599D191EEB7B}" name="Winfield, Maximo" initials="WM" userId="S::maximo.winfield@snhu.edu::09f3f85e-d52f-4de8-8582-0ededf29a1c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D92E20-562D-5746-953B-79E658D09FFB}" v="390" dt="2026-01-24T08:19:10.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0_68C49C6.xml><?xml version="1.0" encoding="utf-8"?>
<p188:cmLst xmlns:a="http://schemas.openxmlformats.org/drawingml/2006/main" xmlns:r="http://schemas.openxmlformats.org/officeDocument/2006/relationships" xmlns:p188="http://schemas.microsoft.com/office/powerpoint/2018/8/main">
  <p188:cm id="{65EB3CDB-8741-43DC-9B07-940EDDA6279D}" authorId="{A616D74B-606D-246E-6519-599D191EEB7B}" created="2026-01-24T00:27:37.911">
    <pc:sldMkLst xmlns:pc="http://schemas.microsoft.com/office/powerpoint/2013/main/command">
      <pc:docMk/>
      <pc:sldMk cId="109857222" sldId="256"/>
    </pc:sldMkLst>
    <p188:txBody>
      <a:bodyPr/>
      <a:lstStyle/>
      <a:p>
        <a:r>
          <a:rPr lang="en-US"/>
          <a:t>Highlight: The EF Core (Entity Framework) allows data mapping my models. I can query the database (read/Insert/Update/Delete). There is Relationship Handling, EF Core understands applications can have many attachments. There is Database Provider Abstraction. We can use SQLite locally and PostgreSQL in production without changing code.
Highlight: JWT tells me who the user is, EF core ensures only that user's data is loaded.</a:t>
        </a:r>
      </a:p>
    </p188:txBody>
  </p188:cm>
</p188:cmLst>
</file>

<file path=ppt/comments/modernComment_105_D5219A72.xml><?xml version="1.0" encoding="utf-8"?>
<p188:cmLst xmlns:a="http://schemas.openxmlformats.org/drawingml/2006/main" xmlns:r="http://schemas.openxmlformats.org/officeDocument/2006/relationships" xmlns:p188="http://schemas.microsoft.com/office/powerpoint/2018/8/main">
  <p188:cm id="{97DFD290-4065-4BFB-80C2-E6DD7798333C}" authorId="{A616D74B-606D-246E-6519-599D191EEB7B}" created="2026-01-24T07:57:19.138">
    <ac:txMkLst xmlns:ac="http://schemas.microsoft.com/office/drawing/2013/main/command">
      <pc:docMk xmlns:pc="http://schemas.microsoft.com/office/powerpoint/2013/main/command"/>
      <pc:sldMk xmlns:pc="http://schemas.microsoft.com/office/powerpoint/2013/main/command" cId="3575749234" sldId="261"/>
      <ac:spMk id="8" creationId="{8DE5A238-76DC-4B6D-E961-EE5BEEA0C0E1}"/>
      <ac:txMk cp="0" len="227">
        <ac:context len="229" hash="114990640"/>
      </ac:txMk>
    </ac:txMkLst>
    <p188:pos x="346363" y="4179454"/>
    <p188:txBody>
      <a:bodyPr/>
      <a:lstStyle/>
      <a:p>
        <a:r>
          <a:rPr lang="en-US"/>
          <a:t>1. The moveToLane(jobId, nextLane) function is triggered when a card is dropped into a new Kanban lane and is responsible for updating the application status.
2. The original job is captured with const job = items.find(...) so the previous state is available if a rollback is needed.
3. The optimistic UI update happens in setItems(prev =&gt; prev.map(...)), where only the matching item’s status is updated to nextLane so the card moves immediately.
4. The backend update occurs in the try block with await updateJobApp(jobId, { status: nextLane }), which sends a PATCH request containing only the changed field.
5. If the request fails, the catch block restores the original job object using setItems(...) and the saved job reference to keep the UI consistent with the backend.
6. This pattern provides immediate visual feedback while ensuring data integrity if the API request does not succeed.</a:t>
        </a:r>
      </a:p>
    </p188:txBody>
  </p188:cm>
</p188:cmLst>
</file>

<file path=ppt/comments/modernComment_106_843EF52F.xml><?xml version="1.0" encoding="utf-8"?>
<p188:cmLst xmlns:a="http://schemas.openxmlformats.org/drawingml/2006/main" xmlns:r="http://schemas.openxmlformats.org/officeDocument/2006/relationships" xmlns:p188="http://schemas.microsoft.com/office/powerpoint/2018/8/main">
  <p188:cm id="{B5064012-ACAD-4882-8410-7E1ADD6A1553}" authorId="{A616D74B-606D-246E-6519-599D191EEB7B}" created="2026-01-24T08:04:51.124">
    <pc:sldMkLst xmlns:pc="http://schemas.microsoft.com/office/powerpoint/2013/main/command">
      <pc:docMk/>
      <pc:sldMk cId="2218718511" sldId="262"/>
    </pc:sldMkLst>
    <p188:txBody>
      <a:bodyPr/>
      <a:lstStyle/>
      <a:p>
        <a:r>
          <a:rPr lang="en-US"/>
          <a:t>1. JWTs are created in JwtTokenService.cs, where the user ID is added to the token as a claim using ClaimTypes.NameIdentifier.
2. In Program.cs, the JWT authentication middleware validates the token on every request and converts its claims into a ClaimsPrincipal.
3. Once validated, the ClaimsPrincipal is attached to the request context and made available to the API endpoints.
4. In JobAppEndpoints.cs, the endpoints read the user ID using user.FindFirstValue(ClaimTypes.NameIdentifier) to determine the authenticated user.
5. This user ID is then used in EF Core queries such as Where(x =&gt; x.UserId == userId) to enforce data ownership and authorization.
Separating token creation, validation, and claim consumption keeps authentication concerns centralized while allowing endpoints to remain focused on business logic.</a:t>
        </a:r>
      </a:p>
    </p188:txBody>
  </p188:cm>
</p188:cmLst>
</file>

<file path=ppt/comments/modernComment_107_7BAF3997.xml><?xml version="1.0" encoding="utf-8"?>
<p188:cmLst xmlns:a="http://schemas.openxmlformats.org/drawingml/2006/main" xmlns:r="http://schemas.openxmlformats.org/officeDocument/2006/relationships" xmlns:p188="http://schemas.microsoft.com/office/powerpoint/2018/8/main">
  <p188:cm id="{F0ABE097-DFB0-433A-AAE6-273B6B693215}" authorId="{A616D74B-606D-246E-6519-599D191EEB7B}" created="2026-01-24T08:07:35.026">
    <pc:sldMkLst xmlns:pc="http://schemas.microsoft.com/office/powerpoint/2013/main/command">
      <pc:docMk/>
      <pc:sldMk cId="2075081111" sldId="263"/>
    </pc:sldMkLst>
    <p188:txBody>
      <a:bodyPr/>
      <a:lstStyle/>
      <a:p>
        <a:r>
          <a:rPr lang="en-US"/>
          <a:t>1. I chose Minimal APIs instead of MVC controllers to keep routing and business logic close together and reduce unnecessary boilerplate for a focused API.
2. EF Core allows me to work with strongly typed models and LINQ queries while remaining flexible across database providers like SQLite and PostgreSQL.
3. On the frontend, I use optimistic UI updates to keep interactions fast, and I pair that with rollback logic so the UI stays consistent with backend state.
4. Attachments are handled as a separate concern because file storage, upload flows, and permissions differ from core job application data.
5. Overall, I intentionally avoided over-engineering and focused on clarity, maintainability, and real-world usage patterns.</a:t>
        </a:r>
      </a:p>
    </p188:txBody>
  </p188:cm>
</p188:cmLst>
</file>

<file path=ppt/comments/modernComment_108_CDC7352F.xml><?xml version="1.0" encoding="utf-8"?>
<p188:cmLst xmlns:a="http://schemas.openxmlformats.org/drawingml/2006/main" xmlns:r="http://schemas.openxmlformats.org/officeDocument/2006/relationships" xmlns:p188="http://schemas.microsoft.com/office/powerpoint/2018/8/main">
  <p188:cm id="{876EE069-671A-44F6-A1E5-00EB69A47CF1}" authorId="{A616D74B-606D-246E-6519-599D191EEB7B}" created="2026-01-24T08:11:34.950">
    <ac:deMkLst xmlns:ac="http://schemas.microsoft.com/office/drawing/2013/main/command">
      <pc:docMk xmlns:pc="http://schemas.microsoft.com/office/powerpoint/2013/main/command"/>
      <pc:sldMk xmlns:pc="http://schemas.microsoft.com/office/powerpoint/2013/main/command" cId="3452384559" sldId="264"/>
      <ac:spMk id="3" creationId="{7CA20C2B-26CD-3EDB-FDCC-4CD5B981185D}"/>
    </ac:deMkLst>
    <p188:txBody>
      <a:bodyPr/>
      <a:lstStyle/>
      <a:p>
        <a:r>
          <a:rPr lang="en-US"/>
          <a:t>1. To keep the UI refresh safe and shareable, I synchronize filters and paging with the URL using useSearchParams and initialize state from query parameters on load in JobAppsPage.tsx.
2. I prevent stale API responses from overwriting newer data by using a request sequence guard with loadSeq.current inside the load() function in JobAppsPage.tsx.
3. Frontend enum values must exactly match backend enum names, so I enforce this with STATUS_OPTIONS and the isApplicationStatus type guard in JobAppsPage.tsx, and the backend enum definition lives in ApplicationStatus.cs.
4. Drag and drop interactions required extra care to avoid accidental clicks or inconsistent state, which I handled by checking isDragging in SortableJobCard and separating drag behavior in the DnD handlers in JobAppsPage.tsx.
These challenges reinforced the importance of defensive UI patterns and clear contracts between the frontend and backend, especially between JobAppsPage.tsx, the API functions in api/jobApps.ts, and the backend endpoints in JobAppEndpoints.cs.</a:t>
        </a:r>
      </a:p>
    </p188:txBody>
  </p188:cm>
</p188:cmLst>
</file>

<file path=ppt/comments/modernComment_109_6505701C.xml><?xml version="1.0" encoding="utf-8"?>
<p188:cmLst xmlns:a="http://schemas.openxmlformats.org/drawingml/2006/main" xmlns:r="http://schemas.openxmlformats.org/officeDocument/2006/relationships" xmlns:p188="http://schemas.microsoft.com/office/powerpoint/2018/8/main">
  <p188:cm id="{1586C809-A19B-4FF3-803D-948A5691FBD7}" authorId="{A616D74B-606D-246E-6519-599D191EEB7B}" created="2026-01-24T08:18:51.807">
    <ac:deMkLst xmlns:ac="http://schemas.microsoft.com/office/drawing/2013/main/command">
      <pc:docMk xmlns:pc="http://schemas.microsoft.com/office/powerpoint/2013/main/command"/>
      <pc:sldMk xmlns:pc="http://schemas.microsoft.com/office/powerpoint/2013/main/command" cId="1694855196" sldId="265"/>
      <ac:spMk id="3" creationId="{BA17435E-A631-B4EF-9110-51FD1F12E349}"/>
    </ac:deMkLst>
    <p188:txBody>
      <a:bodyPr/>
      <a:lstStyle/>
      <a:p>
        <a:r>
          <a:rPr lang="en-US"/>
          <a:t>1. I start the demo on the Job Applications page to show both Board and Archive views, which are driven by the state management, data loading, and view toggling logic in JobAppsPage.tsx.
2. Moving a card between lanes demonstrates the optimistic UI update pattern implemented in the moveToLane function in JobAppsPage.tsx, where the UI updates immediately and a minimal PATCH request is sent to the backend.
3. Ownership enforcement and paging are handled in the backend in JobAppEndpoints.cs, where the user ID is read from JWT claims using ClaimTypes.NameIdentifier and applied to the EF Core query before filtering, sorting, and pagination occur.
4. Data access is managed through EF Core using AppDbContext.cs, which provides strongly typed queries and allows the same code to work across SQLite in development and PostgreSQL in production.
5. Attachments are stored separately in AWS S3, while the relational database stores attachment metadata and relationships, keeping storage concerns isolated from core application data.
Together, these examples demonstrate a clear separation of concerns between UI state in JobAppsPage.tsx, API logic in JobAppEndpoints.cs, data access in AppDbContext.cs, and external storage in S3.
I am happy to go deeper into any specific file or decision if you would like to explore a particular part of the system.</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F49C91-BD7B-4A90-B7AA-68B67ACFA1E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943CBB3-A929-4CA5-8F47-CC45EA82C92A}">
      <dgm:prSet/>
      <dgm:spPr/>
      <dgm:t>
        <a:bodyPr/>
        <a:lstStyle/>
        <a:p>
          <a:r>
            <a:rPr lang="en-US"/>
            <a:t>Why this project exists</a:t>
          </a:r>
        </a:p>
      </dgm:t>
    </dgm:pt>
    <dgm:pt modelId="{8C36ABD9-14E0-4AF2-9E86-8D4CFC9869A5}" type="parTrans" cxnId="{7CBD4B10-FF3B-4B07-A321-E6D53FE8C251}">
      <dgm:prSet/>
      <dgm:spPr/>
      <dgm:t>
        <a:bodyPr/>
        <a:lstStyle/>
        <a:p>
          <a:endParaRPr lang="en-US"/>
        </a:p>
      </dgm:t>
    </dgm:pt>
    <dgm:pt modelId="{7819B950-5B73-4336-A645-2723EF23C99E}" type="sibTrans" cxnId="{7CBD4B10-FF3B-4B07-A321-E6D53FE8C251}">
      <dgm:prSet/>
      <dgm:spPr/>
      <dgm:t>
        <a:bodyPr/>
        <a:lstStyle/>
        <a:p>
          <a:endParaRPr lang="en-US"/>
        </a:p>
      </dgm:t>
    </dgm:pt>
    <dgm:pt modelId="{40F64EB8-CDF7-4E3F-BB36-888F3A66EDAC}">
      <dgm:prSet/>
      <dgm:spPr/>
      <dgm:t>
        <a:bodyPr/>
        <a:lstStyle/>
        <a:p>
          <a:r>
            <a:rPr lang="en-US"/>
            <a:t>I noticed I wanted to keep track of certain companies I have applied to.</a:t>
          </a:r>
        </a:p>
      </dgm:t>
    </dgm:pt>
    <dgm:pt modelId="{92FA8215-9355-4F6F-B637-3501CB5F5DC6}" type="parTrans" cxnId="{4DA0EFFD-51D0-417C-9BFA-1E5B2AA6E958}">
      <dgm:prSet/>
      <dgm:spPr/>
      <dgm:t>
        <a:bodyPr/>
        <a:lstStyle/>
        <a:p>
          <a:endParaRPr lang="en-US"/>
        </a:p>
      </dgm:t>
    </dgm:pt>
    <dgm:pt modelId="{BE830B45-51BF-4E53-B4CC-658ABAE7B8D9}" type="sibTrans" cxnId="{4DA0EFFD-51D0-417C-9BFA-1E5B2AA6E958}">
      <dgm:prSet/>
      <dgm:spPr/>
      <dgm:t>
        <a:bodyPr/>
        <a:lstStyle/>
        <a:p>
          <a:endParaRPr lang="en-US"/>
        </a:p>
      </dgm:t>
    </dgm:pt>
    <dgm:pt modelId="{643911D5-5575-42D8-AB7E-5CB1E39F6A56}">
      <dgm:prSet/>
      <dgm:spPr/>
      <dgm:t>
        <a:bodyPr/>
        <a:lstStyle/>
        <a:p>
          <a:r>
            <a:rPr lang="en-US"/>
            <a:t>This project is for me to track jobs across different companies. Most companies have their own dash board but I needed a centralized place. </a:t>
          </a:r>
        </a:p>
      </dgm:t>
    </dgm:pt>
    <dgm:pt modelId="{61DB7FB4-CEA7-4115-96E5-83EF5B3A8BA6}" type="parTrans" cxnId="{282A25E3-6613-41C2-B48E-6418A67B6FE0}">
      <dgm:prSet/>
      <dgm:spPr/>
      <dgm:t>
        <a:bodyPr/>
        <a:lstStyle/>
        <a:p>
          <a:endParaRPr lang="en-US"/>
        </a:p>
      </dgm:t>
    </dgm:pt>
    <dgm:pt modelId="{634804F8-563C-491F-AD59-BEF5AEA4EB48}" type="sibTrans" cxnId="{282A25E3-6613-41C2-B48E-6418A67B6FE0}">
      <dgm:prSet/>
      <dgm:spPr/>
      <dgm:t>
        <a:bodyPr/>
        <a:lstStyle/>
        <a:p>
          <a:endParaRPr lang="en-US"/>
        </a:p>
      </dgm:t>
    </dgm:pt>
    <dgm:pt modelId="{1FFA7AE7-A7FD-4193-BE54-25B9069293F2}">
      <dgm:prSet/>
      <dgm:spPr/>
      <dgm:t>
        <a:bodyPr/>
        <a:lstStyle/>
        <a:p>
          <a:r>
            <a:rPr lang="en-US"/>
            <a:t>Yes maybe LinkedIn can hold all of the applications I have done there but I wanted to be able to customize the information shared. For example, notes for the job.</a:t>
          </a:r>
        </a:p>
      </dgm:t>
    </dgm:pt>
    <dgm:pt modelId="{DFE6816A-6914-441C-9361-EF0E70417E7E}" type="parTrans" cxnId="{511F4F03-BED4-43E5-BF8F-12946DBDB15A}">
      <dgm:prSet/>
      <dgm:spPr/>
      <dgm:t>
        <a:bodyPr/>
        <a:lstStyle/>
        <a:p>
          <a:endParaRPr lang="en-US"/>
        </a:p>
      </dgm:t>
    </dgm:pt>
    <dgm:pt modelId="{73CDAC5C-B0BC-4B9D-AB8D-E4652BF9A77F}" type="sibTrans" cxnId="{511F4F03-BED4-43E5-BF8F-12946DBDB15A}">
      <dgm:prSet/>
      <dgm:spPr/>
      <dgm:t>
        <a:bodyPr/>
        <a:lstStyle/>
        <a:p>
          <a:endParaRPr lang="en-US"/>
        </a:p>
      </dgm:t>
    </dgm:pt>
    <dgm:pt modelId="{C7E49661-AC51-4AB3-A630-FA702ED7B036}">
      <dgm:prSet/>
      <dgm:spPr/>
      <dgm:t>
        <a:bodyPr/>
        <a:lstStyle/>
        <a:p>
          <a:r>
            <a:rPr lang="en-US"/>
            <a:t>I also really wanted to challenge myself so I can grow. I really needed something beyond coursework that I could work on and test my skills. </a:t>
          </a:r>
        </a:p>
      </dgm:t>
    </dgm:pt>
    <dgm:pt modelId="{EA171B58-072C-422D-A270-5B9DA91A6BEF}" type="parTrans" cxnId="{6966F666-2CDB-47F0-88EC-2E86EE28009D}">
      <dgm:prSet/>
      <dgm:spPr/>
      <dgm:t>
        <a:bodyPr/>
        <a:lstStyle/>
        <a:p>
          <a:endParaRPr lang="en-US"/>
        </a:p>
      </dgm:t>
    </dgm:pt>
    <dgm:pt modelId="{C377CA2E-540E-4EA2-A3FD-3E04C4053C91}" type="sibTrans" cxnId="{6966F666-2CDB-47F0-88EC-2E86EE28009D}">
      <dgm:prSet/>
      <dgm:spPr/>
      <dgm:t>
        <a:bodyPr/>
        <a:lstStyle/>
        <a:p>
          <a:endParaRPr lang="en-US"/>
        </a:p>
      </dgm:t>
    </dgm:pt>
    <dgm:pt modelId="{E7E435C7-F791-42DB-AF02-C40B2D65B8C1}" type="pres">
      <dgm:prSet presAssocID="{25F49C91-BD7B-4A90-B7AA-68B67ACFA1E5}" presName="root" presStyleCnt="0">
        <dgm:presLayoutVars>
          <dgm:dir/>
          <dgm:resizeHandles val="exact"/>
        </dgm:presLayoutVars>
      </dgm:prSet>
      <dgm:spPr/>
    </dgm:pt>
    <dgm:pt modelId="{60E24AD8-7AB4-47D3-BB3E-9026F0576B4E}" type="pres">
      <dgm:prSet presAssocID="{7943CBB3-A929-4CA5-8F47-CC45EA82C92A}" presName="compNode" presStyleCnt="0"/>
      <dgm:spPr/>
    </dgm:pt>
    <dgm:pt modelId="{970D919E-451F-494B-88E0-25A431D06019}" type="pres">
      <dgm:prSet presAssocID="{7943CBB3-A929-4CA5-8F47-CC45EA82C92A}" presName="bgRect" presStyleLbl="bgShp" presStyleIdx="0" presStyleCnt="5"/>
      <dgm:spPr/>
    </dgm:pt>
    <dgm:pt modelId="{69FC837C-7247-4742-8788-B5390AB98858}" type="pres">
      <dgm:prSet presAssocID="{7943CBB3-A929-4CA5-8F47-CC45EA82C92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F964DEA4-BD0F-4095-A376-464FC7BEBB45}" type="pres">
      <dgm:prSet presAssocID="{7943CBB3-A929-4CA5-8F47-CC45EA82C92A}" presName="spaceRect" presStyleCnt="0"/>
      <dgm:spPr/>
    </dgm:pt>
    <dgm:pt modelId="{3DE4280F-BEB0-4CEF-AC76-EC3841CADB87}" type="pres">
      <dgm:prSet presAssocID="{7943CBB3-A929-4CA5-8F47-CC45EA82C92A}" presName="parTx" presStyleLbl="revTx" presStyleIdx="0" presStyleCnt="5">
        <dgm:presLayoutVars>
          <dgm:chMax val="0"/>
          <dgm:chPref val="0"/>
        </dgm:presLayoutVars>
      </dgm:prSet>
      <dgm:spPr/>
    </dgm:pt>
    <dgm:pt modelId="{761686C5-1040-4E3F-83A3-A6CABF94BB07}" type="pres">
      <dgm:prSet presAssocID="{7819B950-5B73-4336-A645-2723EF23C99E}" presName="sibTrans" presStyleCnt="0"/>
      <dgm:spPr/>
    </dgm:pt>
    <dgm:pt modelId="{80995692-FF09-4D3F-8F1C-FD8806879B62}" type="pres">
      <dgm:prSet presAssocID="{40F64EB8-CDF7-4E3F-BB36-888F3A66EDAC}" presName="compNode" presStyleCnt="0"/>
      <dgm:spPr/>
    </dgm:pt>
    <dgm:pt modelId="{336FAFE2-C144-405F-960D-FA985EFA806A}" type="pres">
      <dgm:prSet presAssocID="{40F64EB8-CDF7-4E3F-BB36-888F3A66EDAC}" presName="bgRect" presStyleLbl="bgShp" presStyleIdx="1" presStyleCnt="5"/>
      <dgm:spPr/>
    </dgm:pt>
    <dgm:pt modelId="{3A591386-AF3A-4E33-9153-8FA7E3A904C3}" type="pres">
      <dgm:prSet presAssocID="{40F64EB8-CDF7-4E3F-BB36-888F3A66EDA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5AEA7751-D17C-4D8F-8594-5EE07C2488E4}" type="pres">
      <dgm:prSet presAssocID="{40F64EB8-CDF7-4E3F-BB36-888F3A66EDAC}" presName="spaceRect" presStyleCnt="0"/>
      <dgm:spPr/>
    </dgm:pt>
    <dgm:pt modelId="{03A42150-2537-4B6B-9101-198279F24A72}" type="pres">
      <dgm:prSet presAssocID="{40F64EB8-CDF7-4E3F-BB36-888F3A66EDAC}" presName="parTx" presStyleLbl="revTx" presStyleIdx="1" presStyleCnt="5">
        <dgm:presLayoutVars>
          <dgm:chMax val="0"/>
          <dgm:chPref val="0"/>
        </dgm:presLayoutVars>
      </dgm:prSet>
      <dgm:spPr/>
    </dgm:pt>
    <dgm:pt modelId="{89DCBB8E-085B-4765-A5E4-95878D2B114F}" type="pres">
      <dgm:prSet presAssocID="{BE830B45-51BF-4E53-B4CC-658ABAE7B8D9}" presName="sibTrans" presStyleCnt="0"/>
      <dgm:spPr/>
    </dgm:pt>
    <dgm:pt modelId="{409E4F8B-F9B4-4ECB-8EC2-F3527D16F5DD}" type="pres">
      <dgm:prSet presAssocID="{643911D5-5575-42D8-AB7E-5CB1E39F6A56}" presName="compNode" presStyleCnt="0"/>
      <dgm:spPr/>
    </dgm:pt>
    <dgm:pt modelId="{654AD750-FDCF-4B39-A10B-B01EFB01DEC4}" type="pres">
      <dgm:prSet presAssocID="{643911D5-5575-42D8-AB7E-5CB1E39F6A56}" presName="bgRect" presStyleLbl="bgShp" presStyleIdx="2" presStyleCnt="5"/>
      <dgm:spPr/>
    </dgm:pt>
    <dgm:pt modelId="{A90F6FB3-D9FE-4825-A8E2-83B5500E0A6F}" type="pres">
      <dgm:prSet presAssocID="{643911D5-5575-42D8-AB7E-5CB1E39F6A5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ty"/>
        </a:ext>
      </dgm:extLst>
    </dgm:pt>
    <dgm:pt modelId="{A92850EB-45ED-4477-AAFB-B6292A6B6412}" type="pres">
      <dgm:prSet presAssocID="{643911D5-5575-42D8-AB7E-5CB1E39F6A56}" presName="spaceRect" presStyleCnt="0"/>
      <dgm:spPr/>
    </dgm:pt>
    <dgm:pt modelId="{CACF6DBA-0433-478D-BB9C-7E4DBEE54747}" type="pres">
      <dgm:prSet presAssocID="{643911D5-5575-42D8-AB7E-5CB1E39F6A56}" presName="parTx" presStyleLbl="revTx" presStyleIdx="2" presStyleCnt="5">
        <dgm:presLayoutVars>
          <dgm:chMax val="0"/>
          <dgm:chPref val="0"/>
        </dgm:presLayoutVars>
      </dgm:prSet>
      <dgm:spPr/>
    </dgm:pt>
    <dgm:pt modelId="{D5A9DA92-8A8D-441A-8D56-79A4E715055C}" type="pres">
      <dgm:prSet presAssocID="{634804F8-563C-491F-AD59-BEF5AEA4EB48}" presName="sibTrans" presStyleCnt="0"/>
      <dgm:spPr/>
    </dgm:pt>
    <dgm:pt modelId="{23486051-E6ED-4F70-AF0C-6B2E2168A5BE}" type="pres">
      <dgm:prSet presAssocID="{1FFA7AE7-A7FD-4193-BE54-25B9069293F2}" presName="compNode" presStyleCnt="0"/>
      <dgm:spPr/>
    </dgm:pt>
    <dgm:pt modelId="{B5F114F3-C1B5-4FBF-B035-9378A432C225}" type="pres">
      <dgm:prSet presAssocID="{1FFA7AE7-A7FD-4193-BE54-25B9069293F2}" presName="bgRect" presStyleLbl="bgShp" presStyleIdx="3" presStyleCnt="5"/>
      <dgm:spPr/>
    </dgm:pt>
    <dgm:pt modelId="{B76D5BEB-6D67-48FB-A1F0-0A2222438B8F}" type="pres">
      <dgm:prSet presAssocID="{1FFA7AE7-A7FD-4193-BE54-25B9069293F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ustache Face with Solid Fill"/>
        </a:ext>
      </dgm:extLst>
    </dgm:pt>
    <dgm:pt modelId="{ADB931E8-75E1-467A-A823-A3B3F2BA17E1}" type="pres">
      <dgm:prSet presAssocID="{1FFA7AE7-A7FD-4193-BE54-25B9069293F2}" presName="spaceRect" presStyleCnt="0"/>
      <dgm:spPr/>
    </dgm:pt>
    <dgm:pt modelId="{513D6F35-7C48-4A06-930D-B810BFDDA9C4}" type="pres">
      <dgm:prSet presAssocID="{1FFA7AE7-A7FD-4193-BE54-25B9069293F2}" presName="parTx" presStyleLbl="revTx" presStyleIdx="3" presStyleCnt="5">
        <dgm:presLayoutVars>
          <dgm:chMax val="0"/>
          <dgm:chPref val="0"/>
        </dgm:presLayoutVars>
      </dgm:prSet>
      <dgm:spPr/>
    </dgm:pt>
    <dgm:pt modelId="{3F22E1B0-A1FE-4516-BFD5-B83DA6C22BB5}" type="pres">
      <dgm:prSet presAssocID="{73CDAC5C-B0BC-4B9D-AB8D-E4652BF9A77F}" presName="sibTrans" presStyleCnt="0"/>
      <dgm:spPr/>
    </dgm:pt>
    <dgm:pt modelId="{2C969B9A-BE66-4838-8491-57609EC95C04}" type="pres">
      <dgm:prSet presAssocID="{C7E49661-AC51-4AB3-A630-FA702ED7B036}" presName="compNode" presStyleCnt="0"/>
      <dgm:spPr/>
    </dgm:pt>
    <dgm:pt modelId="{763A9309-D3EF-4F61-92C7-7ACC3E426C9D}" type="pres">
      <dgm:prSet presAssocID="{C7E49661-AC51-4AB3-A630-FA702ED7B036}" presName="bgRect" presStyleLbl="bgShp" presStyleIdx="4" presStyleCnt="5"/>
      <dgm:spPr/>
    </dgm:pt>
    <dgm:pt modelId="{F44A3EB2-3C5C-4433-942B-2312E4E3AA12}" type="pres">
      <dgm:prSet presAssocID="{C7E49661-AC51-4AB3-A630-FA702ED7B03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assroom"/>
        </a:ext>
      </dgm:extLst>
    </dgm:pt>
    <dgm:pt modelId="{6E994565-884A-4E21-97A3-92196F568EAF}" type="pres">
      <dgm:prSet presAssocID="{C7E49661-AC51-4AB3-A630-FA702ED7B036}" presName="spaceRect" presStyleCnt="0"/>
      <dgm:spPr/>
    </dgm:pt>
    <dgm:pt modelId="{F1727046-F3A4-4DBC-9257-BB6C0F4811C6}" type="pres">
      <dgm:prSet presAssocID="{C7E49661-AC51-4AB3-A630-FA702ED7B036}" presName="parTx" presStyleLbl="revTx" presStyleIdx="4" presStyleCnt="5">
        <dgm:presLayoutVars>
          <dgm:chMax val="0"/>
          <dgm:chPref val="0"/>
        </dgm:presLayoutVars>
      </dgm:prSet>
      <dgm:spPr/>
    </dgm:pt>
  </dgm:ptLst>
  <dgm:cxnLst>
    <dgm:cxn modelId="{511F4F03-BED4-43E5-BF8F-12946DBDB15A}" srcId="{25F49C91-BD7B-4A90-B7AA-68B67ACFA1E5}" destId="{1FFA7AE7-A7FD-4193-BE54-25B9069293F2}" srcOrd="3" destOrd="0" parTransId="{DFE6816A-6914-441C-9361-EF0E70417E7E}" sibTransId="{73CDAC5C-B0BC-4B9D-AB8D-E4652BF9A77F}"/>
    <dgm:cxn modelId="{7CBD4B10-FF3B-4B07-A321-E6D53FE8C251}" srcId="{25F49C91-BD7B-4A90-B7AA-68B67ACFA1E5}" destId="{7943CBB3-A929-4CA5-8F47-CC45EA82C92A}" srcOrd="0" destOrd="0" parTransId="{8C36ABD9-14E0-4AF2-9E86-8D4CFC9869A5}" sibTransId="{7819B950-5B73-4336-A645-2723EF23C99E}"/>
    <dgm:cxn modelId="{B6EEEE17-C4D1-4B25-94A5-8B03E4FB5B1F}" type="presOf" srcId="{643911D5-5575-42D8-AB7E-5CB1E39F6A56}" destId="{CACF6DBA-0433-478D-BB9C-7E4DBEE54747}" srcOrd="0" destOrd="0" presId="urn:microsoft.com/office/officeart/2018/2/layout/IconVerticalSolidList"/>
    <dgm:cxn modelId="{3554B542-1FBB-428D-836A-A67EAA22C350}" type="presOf" srcId="{C7E49661-AC51-4AB3-A630-FA702ED7B036}" destId="{F1727046-F3A4-4DBC-9257-BB6C0F4811C6}" srcOrd="0" destOrd="0" presId="urn:microsoft.com/office/officeart/2018/2/layout/IconVerticalSolidList"/>
    <dgm:cxn modelId="{6966F666-2CDB-47F0-88EC-2E86EE28009D}" srcId="{25F49C91-BD7B-4A90-B7AA-68B67ACFA1E5}" destId="{C7E49661-AC51-4AB3-A630-FA702ED7B036}" srcOrd="4" destOrd="0" parTransId="{EA171B58-072C-422D-A270-5B9DA91A6BEF}" sibTransId="{C377CA2E-540E-4EA2-A3FD-3E04C4053C91}"/>
    <dgm:cxn modelId="{33C9EE69-B423-4DDA-A070-58775C62CEC5}" type="presOf" srcId="{1FFA7AE7-A7FD-4193-BE54-25B9069293F2}" destId="{513D6F35-7C48-4A06-930D-B810BFDDA9C4}" srcOrd="0" destOrd="0" presId="urn:microsoft.com/office/officeart/2018/2/layout/IconVerticalSolidList"/>
    <dgm:cxn modelId="{809E1FC1-7C1B-48AB-8E19-BFC5E51A6465}" type="presOf" srcId="{40F64EB8-CDF7-4E3F-BB36-888F3A66EDAC}" destId="{03A42150-2537-4B6B-9101-198279F24A72}" srcOrd="0" destOrd="0" presId="urn:microsoft.com/office/officeart/2018/2/layout/IconVerticalSolidList"/>
    <dgm:cxn modelId="{AE336AD5-9264-4F2A-B52A-FDA99C21BDE6}" type="presOf" srcId="{25F49C91-BD7B-4A90-B7AA-68B67ACFA1E5}" destId="{E7E435C7-F791-42DB-AF02-C40B2D65B8C1}" srcOrd="0" destOrd="0" presId="urn:microsoft.com/office/officeart/2018/2/layout/IconVerticalSolidList"/>
    <dgm:cxn modelId="{C386F4D9-8887-4182-9826-A0677B58DC21}" type="presOf" srcId="{7943CBB3-A929-4CA5-8F47-CC45EA82C92A}" destId="{3DE4280F-BEB0-4CEF-AC76-EC3841CADB87}" srcOrd="0" destOrd="0" presId="urn:microsoft.com/office/officeart/2018/2/layout/IconVerticalSolidList"/>
    <dgm:cxn modelId="{282A25E3-6613-41C2-B48E-6418A67B6FE0}" srcId="{25F49C91-BD7B-4A90-B7AA-68B67ACFA1E5}" destId="{643911D5-5575-42D8-AB7E-5CB1E39F6A56}" srcOrd="2" destOrd="0" parTransId="{61DB7FB4-CEA7-4115-96E5-83EF5B3A8BA6}" sibTransId="{634804F8-563C-491F-AD59-BEF5AEA4EB48}"/>
    <dgm:cxn modelId="{4DA0EFFD-51D0-417C-9BFA-1E5B2AA6E958}" srcId="{25F49C91-BD7B-4A90-B7AA-68B67ACFA1E5}" destId="{40F64EB8-CDF7-4E3F-BB36-888F3A66EDAC}" srcOrd="1" destOrd="0" parTransId="{92FA8215-9355-4F6F-B637-3501CB5F5DC6}" sibTransId="{BE830B45-51BF-4E53-B4CC-658ABAE7B8D9}"/>
    <dgm:cxn modelId="{6B08D029-8B2A-499D-804C-7FB984E21187}" type="presParOf" srcId="{E7E435C7-F791-42DB-AF02-C40B2D65B8C1}" destId="{60E24AD8-7AB4-47D3-BB3E-9026F0576B4E}" srcOrd="0" destOrd="0" presId="urn:microsoft.com/office/officeart/2018/2/layout/IconVerticalSolidList"/>
    <dgm:cxn modelId="{C6B5EA9C-C736-4C59-840A-F892A20020E3}" type="presParOf" srcId="{60E24AD8-7AB4-47D3-BB3E-9026F0576B4E}" destId="{970D919E-451F-494B-88E0-25A431D06019}" srcOrd="0" destOrd="0" presId="urn:microsoft.com/office/officeart/2018/2/layout/IconVerticalSolidList"/>
    <dgm:cxn modelId="{DDC8CFEB-A461-4B20-AB4C-7F44D24A8DBC}" type="presParOf" srcId="{60E24AD8-7AB4-47D3-BB3E-9026F0576B4E}" destId="{69FC837C-7247-4742-8788-B5390AB98858}" srcOrd="1" destOrd="0" presId="urn:microsoft.com/office/officeart/2018/2/layout/IconVerticalSolidList"/>
    <dgm:cxn modelId="{453828FD-016F-4923-9151-A8786E0A6C27}" type="presParOf" srcId="{60E24AD8-7AB4-47D3-BB3E-9026F0576B4E}" destId="{F964DEA4-BD0F-4095-A376-464FC7BEBB45}" srcOrd="2" destOrd="0" presId="urn:microsoft.com/office/officeart/2018/2/layout/IconVerticalSolidList"/>
    <dgm:cxn modelId="{15AE3EAB-DDD5-4F54-B074-9A9D89FBEA73}" type="presParOf" srcId="{60E24AD8-7AB4-47D3-BB3E-9026F0576B4E}" destId="{3DE4280F-BEB0-4CEF-AC76-EC3841CADB87}" srcOrd="3" destOrd="0" presId="urn:microsoft.com/office/officeart/2018/2/layout/IconVerticalSolidList"/>
    <dgm:cxn modelId="{85EC6A4F-931C-43D7-96A6-A83CDC256DF1}" type="presParOf" srcId="{E7E435C7-F791-42DB-AF02-C40B2D65B8C1}" destId="{761686C5-1040-4E3F-83A3-A6CABF94BB07}" srcOrd="1" destOrd="0" presId="urn:microsoft.com/office/officeart/2018/2/layout/IconVerticalSolidList"/>
    <dgm:cxn modelId="{525077F7-A378-4A67-834B-3DD7782C4EB2}" type="presParOf" srcId="{E7E435C7-F791-42DB-AF02-C40B2D65B8C1}" destId="{80995692-FF09-4D3F-8F1C-FD8806879B62}" srcOrd="2" destOrd="0" presId="urn:microsoft.com/office/officeart/2018/2/layout/IconVerticalSolidList"/>
    <dgm:cxn modelId="{6F58645A-9EC1-4EF2-937F-9BAC8EEA2FFE}" type="presParOf" srcId="{80995692-FF09-4D3F-8F1C-FD8806879B62}" destId="{336FAFE2-C144-405F-960D-FA985EFA806A}" srcOrd="0" destOrd="0" presId="urn:microsoft.com/office/officeart/2018/2/layout/IconVerticalSolidList"/>
    <dgm:cxn modelId="{DD6AB78B-F6DF-4B2A-BC8D-53CF617AF217}" type="presParOf" srcId="{80995692-FF09-4D3F-8F1C-FD8806879B62}" destId="{3A591386-AF3A-4E33-9153-8FA7E3A904C3}" srcOrd="1" destOrd="0" presId="urn:microsoft.com/office/officeart/2018/2/layout/IconVerticalSolidList"/>
    <dgm:cxn modelId="{7D23C1ED-BC02-46CF-AAA0-3765B51D074B}" type="presParOf" srcId="{80995692-FF09-4D3F-8F1C-FD8806879B62}" destId="{5AEA7751-D17C-4D8F-8594-5EE07C2488E4}" srcOrd="2" destOrd="0" presId="urn:microsoft.com/office/officeart/2018/2/layout/IconVerticalSolidList"/>
    <dgm:cxn modelId="{E5817B60-90E4-44E1-8055-CC02CD544DEE}" type="presParOf" srcId="{80995692-FF09-4D3F-8F1C-FD8806879B62}" destId="{03A42150-2537-4B6B-9101-198279F24A72}" srcOrd="3" destOrd="0" presId="urn:microsoft.com/office/officeart/2018/2/layout/IconVerticalSolidList"/>
    <dgm:cxn modelId="{F9684D26-5916-41F4-9FB0-EA0CD516B9EC}" type="presParOf" srcId="{E7E435C7-F791-42DB-AF02-C40B2D65B8C1}" destId="{89DCBB8E-085B-4765-A5E4-95878D2B114F}" srcOrd="3" destOrd="0" presId="urn:microsoft.com/office/officeart/2018/2/layout/IconVerticalSolidList"/>
    <dgm:cxn modelId="{A0EE45E0-A289-4C99-94C2-420D7AF31A6D}" type="presParOf" srcId="{E7E435C7-F791-42DB-AF02-C40B2D65B8C1}" destId="{409E4F8B-F9B4-4ECB-8EC2-F3527D16F5DD}" srcOrd="4" destOrd="0" presId="urn:microsoft.com/office/officeart/2018/2/layout/IconVerticalSolidList"/>
    <dgm:cxn modelId="{5F492D19-6565-4202-A098-0371A27411E3}" type="presParOf" srcId="{409E4F8B-F9B4-4ECB-8EC2-F3527D16F5DD}" destId="{654AD750-FDCF-4B39-A10B-B01EFB01DEC4}" srcOrd="0" destOrd="0" presId="urn:microsoft.com/office/officeart/2018/2/layout/IconVerticalSolidList"/>
    <dgm:cxn modelId="{48DA79E1-5029-4737-8516-598F84EF3FA0}" type="presParOf" srcId="{409E4F8B-F9B4-4ECB-8EC2-F3527D16F5DD}" destId="{A90F6FB3-D9FE-4825-A8E2-83B5500E0A6F}" srcOrd="1" destOrd="0" presId="urn:microsoft.com/office/officeart/2018/2/layout/IconVerticalSolidList"/>
    <dgm:cxn modelId="{2EC03AFD-3FE5-4C3C-9138-D27258179B2C}" type="presParOf" srcId="{409E4F8B-F9B4-4ECB-8EC2-F3527D16F5DD}" destId="{A92850EB-45ED-4477-AAFB-B6292A6B6412}" srcOrd="2" destOrd="0" presId="urn:microsoft.com/office/officeart/2018/2/layout/IconVerticalSolidList"/>
    <dgm:cxn modelId="{4CBE7EB5-4564-4253-95A7-AD9D91689159}" type="presParOf" srcId="{409E4F8B-F9B4-4ECB-8EC2-F3527D16F5DD}" destId="{CACF6DBA-0433-478D-BB9C-7E4DBEE54747}" srcOrd="3" destOrd="0" presId="urn:microsoft.com/office/officeart/2018/2/layout/IconVerticalSolidList"/>
    <dgm:cxn modelId="{40C84DE7-0060-4D88-AB12-3B00C059D6D9}" type="presParOf" srcId="{E7E435C7-F791-42DB-AF02-C40B2D65B8C1}" destId="{D5A9DA92-8A8D-441A-8D56-79A4E715055C}" srcOrd="5" destOrd="0" presId="urn:microsoft.com/office/officeart/2018/2/layout/IconVerticalSolidList"/>
    <dgm:cxn modelId="{5ADD98BC-3F42-4C3F-BF2B-750CC61116EF}" type="presParOf" srcId="{E7E435C7-F791-42DB-AF02-C40B2D65B8C1}" destId="{23486051-E6ED-4F70-AF0C-6B2E2168A5BE}" srcOrd="6" destOrd="0" presId="urn:microsoft.com/office/officeart/2018/2/layout/IconVerticalSolidList"/>
    <dgm:cxn modelId="{FD8FEBDE-3407-4CAB-9704-1AC32438EFA3}" type="presParOf" srcId="{23486051-E6ED-4F70-AF0C-6B2E2168A5BE}" destId="{B5F114F3-C1B5-4FBF-B035-9378A432C225}" srcOrd="0" destOrd="0" presId="urn:microsoft.com/office/officeart/2018/2/layout/IconVerticalSolidList"/>
    <dgm:cxn modelId="{5608F38A-10B7-475A-A4C5-F20308193BF2}" type="presParOf" srcId="{23486051-E6ED-4F70-AF0C-6B2E2168A5BE}" destId="{B76D5BEB-6D67-48FB-A1F0-0A2222438B8F}" srcOrd="1" destOrd="0" presId="urn:microsoft.com/office/officeart/2018/2/layout/IconVerticalSolidList"/>
    <dgm:cxn modelId="{AF1D442B-4D2C-4441-A503-DD813ACC9ABD}" type="presParOf" srcId="{23486051-E6ED-4F70-AF0C-6B2E2168A5BE}" destId="{ADB931E8-75E1-467A-A823-A3B3F2BA17E1}" srcOrd="2" destOrd="0" presId="urn:microsoft.com/office/officeart/2018/2/layout/IconVerticalSolidList"/>
    <dgm:cxn modelId="{42C247D7-4559-4EB8-999B-8A96C7A896C3}" type="presParOf" srcId="{23486051-E6ED-4F70-AF0C-6B2E2168A5BE}" destId="{513D6F35-7C48-4A06-930D-B810BFDDA9C4}" srcOrd="3" destOrd="0" presId="urn:microsoft.com/office/officeart/2018/2/layout/IconVerticalSolidList"/>
    <dgm:cxn modelId="{DE54AC5F-B0FD-4EA8-9F32-7C083DB84438}" type="presParOf" srcId="{E7E435C7-F791-42DB-AF02-C40B2D65B8C1}" destId="{3F22E1B0-A1FE-4516-BFD5-B83DA6C22BB5}" srcOrd="7" destOrd="0" presId="urn:microsoft.com/office/officeart/2018/2/layout/IconVerticalSolidList"/>
    <dgm:cxn modelId="{71A6DB63-0B45-42F3-A688-8AFF1CB86417}" type="presParOf" srcId="{E7E435C7-F791-42DB-AF02-C40B2D65B8C1}" destId="{2C969B9A-BE66-4838-8491-57609EC95C04}" srcOrd="8" destOrd="0" presId="urn:microsoft.com/office/officeart/2018/2/layout/IconVerticalSolidList"/>
    <dgm:cxn modelId="{D0C67220-D25F-41FC-A976-E50400837319}" type="presParOf" srcId="{2C969B9A-BE66-4838-8491-57609EC95C04}" destId="{763A9309-D3EF-4F61-92C7-7ACC3E426C9D}" srcOrd="0" destOrd="0" presId="urn:microsoft.com/office/officeart/2018/2/layout/IconVerticalSolidList"/>
    <dgm:cxn modelId="{6CA1ECDE-9DA9-4082-84FC-084EBFE68B0A}" type="presParOf" srcId="{2C969B9A-BE66-4838-8491-57609EC95C04}" destId="{F44A3EB2-3C5C-4433-942B-2312E4E3AA12}" srcOrd="1" destOrd="0" presId="urn:microsoft.com/office/officeart/2018/2/layout/IconVerticalSolidList"/>
    <dgm:cxn modelId="{D259FA81-26A9-43CE-95DF-960F0D794F57}" type="presParOf" srcId="{2C969B9A-BE66-4838-8491-57609EC95C04}" destId="{6E994565-884A-4E21-97A3-92196F568EAF}" srcOrd="2" destOrd="0" presId="urn:microsoft.com/office/officeart/2018/2/layout/IconVerticalSolidList"/>
    <dgm:cxn modelId="{C05A4F30-E0ED-4596-B3F7-C5609B1A0532}" type="presParOf" srcId="{2C969B9A-BE66-4838-8491-57609EC95C04}" destId="{F1727046-F3A4-4DBC-9257-BB6C0F4811C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2DAB60-4F96-41E8-953C-9C78650AC44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BE01376-04D0-4570-998A-BE98641E9640}">
      <dgm:prSet/>
      <dgm:spPr/>
      <dgm:t>
        <a:bodyPr/>
        <a:lstStyle/>
        <a:p>
          <a:pPr>
            <a:defRPr cap="all"/>
          </a:pPr>
          <a:r>
            <a:rPr lang="en-US"/>
            <a:t>Keeping UI state shareable and refresh safe</a:t>
          </a:r>
        </a:p>
      </dgm:t>
    </dgm:pt>
    <dgm:pt modelId="{F926374B-9933-4A3D-B961-356A6BE58D05}" type="parTrans" cxnId="{E2375302-9DF0-4EDA-B248-BB262FC26844}">
      <dgm:prSet/>
      <dgm:spPr/>
      <dgm:t>
        <a:bodyPr/>
        <a:lstStyle/>
        <a:p>
          <a:endParaRPr lang="en-US"/>
        </a:p>
      </dgm:t>
    </dgm:pt>
    <dgm:pt modelId="{31C6175E-A3F4-4E4B-B2E5-D4B9C13898B2}" type="sibTrans" cxnId="{E2375302-9DF0-4EDA-B248-BB262FC26844}">
      <dgm:prSet/>
      <dgm:spPr/>
      <dgm:t>
        <a:bodyPr/>
        <a:lstStyle/>
        <a:p>
          <a:endParaRPr lang="en-US"/>
        </a:p>
      </dgm:t>
    </dgm:pt>
    <dgm:pt modelId="{D20C5527-57B9-4D91-AF41-27C6F16FFAAF}">
      <dgm:prSet/>
      <dgm:spPr/>
      <dgm:t>
        <a:bodyPr/>
        <a:lstStyle/>
        <a:p>
          <a:pPr>
            <a:defRPr cap="all"/>
          </a:pPr>
          <a:r>
            <a:rPr lang="en-US"/>
            <a:t>Preventing stale API responses during rapid changes</a:t>
          </a:r>
        </a:p>
      </dgm:t>
    </dgm:pt>
    <dgm:pt modelId="{D4A824D7-D9CD-4CAE-BCDF-BF03D0AFFDA5}" type="parTrans" cxnId="{FD0D3D08-C8EE-465C-B70F-6B58AB5851B9}">
      <dgm:prSet/>
      <dgm:spPr/>
      <dgm:t>
        <a:bodyPr/>
        <a:lstStyle/>
        <a:p>
          <a:endParaRPr lang="en-US"/>
        </a:p>
      </dgm:t>
    </dgm:pt>
    <dgm:pt modelId="{02051995-F248-418F-95D6-488BE7528B07}" type="sibTrans" cxnId="{FD0D3D08-C8EE-465C-B70F-6B58AB5851B9}">
      <dgm:prSet/>
      <dgm:spPr/>
      <dgm:t>
        <a:bodyPr/>
        <a:lstStyle/>
        <a:p>
          <a:endParaRPr lang="en-US"/>
        </a:p>
      </dgm:t>
    </dgm:pt>
    <dgm:pt modelId="{13CC734A-7D7F-4450-8FE9-A8B95D923254}">
      <dgm:prSet/>
      <dgm:spPr/>
      <dgm:t>
        <a:bodyPr/>
        <a:lstStyle/>
        <a:p>
          <a:pPr>
            <a:defRPr cap="all"/>
          </a:pPr>
          <a:r>
            <a:rPr lang="en-US"/>
            <a:t>Ensuring frontend and backend enums stay aligned</a:t>
          </a:r>
        </a:p>
      </dgm:t>
    </dgm:pt>
    <dgm:pt modelId="{B32D8AC2-7611-4E5B-AE6B-7B73FBDD2453}" type="parTrans" cxnId="{C33512E2-4A18-4D56-83AE-2B2A631A5E55}">
      <dgm:prSet/>
      <dgm:spPr/>
      <dgm:t>
        <a:bodyPr/>
        <a:lstStyle/>
        <a:p>
          <a:endParaRPr lang="en-US"/>
        </a:p>
      </dgm:t>
    </dgm:pt>
    <dgm:pt modelId="{91B5F2D8-5433-4F65-985F-7C80F8DC9221}" type="sibTrans" cxnId="{C33512E2-4A18-4D56-83AE-2B2A631A5E55}">
      <dgm:prSet/>
      <dgm:spPr/>
      <dgm:t>
        <a:bodyPr/>
        <a:lstStyle/>
        <a:p>
          <a:endParaRPr lang="en-US"/>
        </a:p>
      </dgm:t>
    </dgm:pt>
    <dgm:pt modelId="{1FC7D638-BA50-4CB9-BA6B-D76CD04D97A0}">
      <dgm:prSet/>
      <dgm:spPr/>
      <dgm:t>
        <a:bodyPr/>
        <a:lstStyle/>
        <a:p>
          <a:pPr>
            <a:defRPr cap="all"/>
          </a:pPr>
          <a:r>
            <a:rPr lang="en-US"/>
            <a:t>Balancing rich interactions with predictable behavior</a:t>
          </a:r>
        </a:p>
      </dgm:t>
    </dgm:pt>
    <dgm:pt modelId="{B50BBDDA-7602-489E-88CA-B8BC92A478EB}" type="parTrans" cxnId="{6C8D54A3-9899-4DAB-94ED-B1F68C12A455}">
      <dgm:prSet/>
      <dgm:spPr/>
      <dgm:t>
        <a:bodyPr/>
        <a:lstStyle/>
        <a:p>
          <a:endParaRPr lang="en-US"/>
        </a:p>
      </dgm:t>
    </dgm:pt>
    <dgm:pt modelId="{FB391ED3-A0A2-469D-A5F1-10FF82B0AAB9}" type="sibTrans" cxnId="{6C8D54A3-9899-4DAB-94ED-B1F68C12A455}">
      <dgm:prSet/>
      <dgm:spPr/>
      <dgm:t>
        <a:bodyPr/>
        <a:lstStyle/>
        <a:p>
          <a:endParaRPr lang="en-US"/>
        </a:p>
      </dgm:t>
    </dgm:pt>
    <dgm:pt modelId="{7CA1A8D0-0C22-4279-B37F-DB359366B272}" type="pres">
      <dgm:prSet presAssocID="{342DAB60-4F96-41E8-953C-9C78650AC44B}" presName="root" presStyleCnt="0">
        <dgm:presLayoutVars>
          <dgm:dir/>
          <dgm:resizeHandles val="exact"/>
        </dgm:presLayoutVars>
      </dgm:prSet>
      <dgm:spPr/>
    </dgm:pt>
    <dgm:pt modelId="{C29DCA71-DAD1-4365-8BF9-15D0F0E55378}" type="pres">
      <dgm:prSet presAssocID="{CBE01376-04D0-4570-998A-BE98641E9640}" presName="compNode" presStyleCnt="0"/>
      <dgm:spPr/>
    </dgm:pt>
    <dgm:pt modelId="{42EE9567-932C-4B9D-8BF5-ED4A4A5B0AF3}" type="pres">
      <dgm:prSet presAssocID="{CBE01376-04D0-4570-998A-BE98641E9640}" presName="iconBgRect" presStyleLbl="bgShp" presStyleIdx="0" presStyleCnt="4"/>
      <dgm:spPr/>
    </dgm:pt>
    <dgm:pt modelId="{FB468F8D-80AA-457B-9A4A-E342DF91F021}" type="pres">
      <dgm:prSet presAssocID="{CBE01376-04D0-4570-998A-BE98641E964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F3EF63D-4A07-4C42-82F8-298E367DBA86}" type="pres">
      <dgm:prSet presAssocID="{CBE01376-04D0-4570-998A-BE98641E9640}" presName="spaceRect" presStyleCnt="0"/>
      <dgm:spPr/>
    </dgm:pt>
    <dgm:pt modelId="{8AB1D054-4A88-4B09-9BE1-8008E31D1268}" type="pres">
      <dgm:prSet presAssocID="{CBE01376-04D0-4570-998A-BE98641E9640}" presName="textRect" presStyleLbl="revTx" presStyleIdx="0" presStyleCnt="4">
        <dgm:presLayoutVars>
          <dgm:chMax val="1"/>
          <dgm:chPref val="1"/>
        </dgm:presLayoutVars>
      </dgm:prSet>
      <dgm:spPr/>
    </dgm:pt>
    <dgm:pt modelId="{1A040AEC-581B-424C-8D55-2B4ABE0EF1FE}" type="pres">
      <dgm:prSet presAssocID="{31C6175E-A3F4-4E4B-B2E5-D4B9C13898B2}" presName="sibTrans" presStyleCnt="0"/>
      <dgm:spPr/>
    </dgm:pt>
    <dgm:pt modelId="{7555BD07-924C-4D14-A7D8-2387BE049EFF}" type="pres">
      <dgm:prSet presAssocID="{D20C5527-57B9-4D91-AF41-27C6F16FFAAF}" presName="compNode" presStyleCnt="0"/>
      <dgm:spPr/>
    </dgm:pt>
    <dgm:pt modelId="{871CEA45-EA4C-4C92-84FD-61105E6C05BA}" type="pres">
      <dgm:prSet presAssocID="{D20C5527-57B9-4D91-AF41-27C6F16FFAAF}" presName="iconBgRect" presStyleLbl="bgShp" presStyleIdx="1" presStyleCnt="4"/>
      <dgm:spPr/>
    </dgm:pt>
    <dgm:pt modelId="{B0371210-81B5-4AC0-B029-2C00DD792E4C}" type="pres">
      <dgm:prSet presAssocID="{D20C5527-57B9-4D91-AF41-27C6F16FFAA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C2BBC886-F5AC-4D63-9105-DD7FEABBF3DE}" type="pres">
      <dgm:prSet presAssocID="{D20C5527-57B9-4D91-AF41-27C6F16FFAAF}" presName="spaceRect" presStyleCnt="0"/>
      <dgm:spPr/>
    </dgm:pt>
    <dgm:pt modelId="{7FABB139-CE9D-4459-9671-6E2B3525671E}" type="pres">
      <dgm:prSet presAssocID="{D20C5527-57B9-4D91-AF41-27C6F16FFAAF}" presName="textRect" presStyleLbl="revTx" presStyleIdx="1" presStyleCnt="4">
        <dgm:presLayoutVars>
          <dgm:chMax val="1"/>
          <dgm:chPref val="1"/>
        </dgm:presLayoutVars>
      </dgm:prSet>
      <dgm:spPr/>
    </dgm:pt>
    <dgm:pt modelId="{421B4A3E-A057-4F88-BEDC-2D3075D9D4B3}" type="pres">
      <dgm:prSet presAssocID="{02051995-F248-418F-95D6-488BE7528B07}" presName="sibTrans" presStyleCnt="0"/>
      <dgm:spPr/>
    </dgm:pt>
    <dgm:pt modelId="{711AB505-0E42-4039-A1EB-9DE69F88DA63}" type="pres">
      <dgm:prSet presAssocID="{13CC734A-7D7F-4450-8FE9-A8B95D923254}" presName="compNode" presStyleCnt="0"/>
      <dgm:spPr/>
    </dgm:pt>
    <dgm:pt modelId="{F6042744-CDCE-4AE2-8C94-EBB70177B924}" type="pres">
      <dgm:prSet presAssocID="{13CC734A-7D7F-4450-8FE9-A8B95D923254}" presName="iconBgRect" presStyleLbl="bgShp" presStyleIdx="2" presStyleCnt="4"/>
      <dgm:spPr/>
    </dgm:pt>
    <dgm:pt modelId="{D37B6061-03BC-4EEB-A699-C11B725CB47D}" type="pres">
      <dgm:prSet presAssocID="{13CC734A-7D7F-4450-8FE9-A8B95D92325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C3C7D594-F32A-4224-9B4E-E1D0C445B8ED}" type="pres">
      <dgm:prSet presAssocID="{13CC734A-7D7F-4450-8FE9-A8B95D923254}" presName="spaceRect" presStyleCnt="0"/>
      <dgm:spPr/>
    </dgm:pt>
    <dgm:pt modelId="{07B3884E-71CA-4583-B27C-AD5FF5503E9B}" type="pres">
      <dgm:prSet presAssocID="{13CC734A-7D7F-4450-8FE9-A8B95D923254}" presName="textRect" presStyleLbl="revTx" presStyleIdx="2" presStyleCnt="4">
        <dgm:presLayoutVars>
          <dgm:chMax val="1"/>
          <dgm:chPref val="1"/>
        </dgm:presLayoutVars>
      </dgm:prSet>
      <dgm:spPr/>
    </dgm:pt>
    <dgm:pt modelId="{6069E42E-00E0-48D6-9758-FD02DB2B2870}" type="pres">
      <dgm:prSet presAssocID="{91B5F2D8-5433-4F65-985F-7C80F8DC9221}" presName="sibTrans" presStyleCnt="0"/>
      <dgm:spPr/>
    </dgm:pt>
    <dgm:pt modelId="{B06322E0-5610-4010-A724-1505BF0D2988}" type="pres">
      <dgm:prSet presAssocID="{1FC7D638-BA50-4CB9-BA6B-D76CD04D97A0}" presName="compNode" presStyleCnt="0"/>
      <dgm:spPr/>
    </dgm:pt>
    <dgm:pt modelId="{3F072103-906A-4CDC-8969-20FDCD497F2A}" type="pres">
      <dgm:prSet presAssocID="{1FC7D638-BA50-4CB9-BA6B-D76CD04D97A0}" presName="iconBgRect" presStyleLbl="bgShp" presStyleIdx="3" presStyleCnt="4"/>
      <dgm:spPr/>
    </dgm:pt>
    <dgm:pt modelId="{ADDC411B-7064-4A39-9761-D0C491D5B2C6}" type="pres">
      <dgm:prSet presAssocID="{1FC7D638-BA50-4CB9-BA6B-D76CD04D97A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8CE5FD2D-92EC-46A0-B144-98D3BCE3ECB2}" type="pres">
      <dgm:prSet presAssocID="{1FC7D638-BA50-4CB9-BA6B-D76CD04D97A0}" presName="spaceRect" presStyleCnt="0"/>
      <dgm:spPr/>
    </dgm:pt>
    <dgm:pt modelId="{2A56D103-0AB2-4AA3-A1F8-4C1FBE0C15DF}" type="pres">
      <dgm:prSet presAssocID="{1FC7D638-BA50-4CB9-BA6B-D76CD04D97A0}" presName="textRect" presStyleLbl="revTx" presStyleIdx="3" presStyleCnt="4">
        <dgm:presLayoutVars>
          <dgm:chMax val="1"/>
          <dgm:chPref val="1"/>
        </dgm:presLayoutVars>
      </dgm:prSet>
      <dgm:spPr/>
    </dgm:pt>
  </dgm:ptLst>
  <dgm:cxnLst>
    <dgm:cxn modelId="{E129DB01-6526-456F-BFAA-5D7F42A76097}" type="presOf" srcId="{D20C5527-57B9-4D91-AF41-27C6F16FFAAF}" destId="{7FABB139-CE9D-4459-9671-6E2B3525671E}" srcOrd="0" destOrd="0" presId="urn:microsoft.com/office/officeart/2018/5/layout/IconCircleLabelList"/>
    <dgm:cxn modelId="{E2375302-9DF0-4EDA-B248-BB262FC26844}" srcId="{342DAB60-4F96-41E8-953C-9C78650AC44B}" destId="{CBE01376-04D0-4570-998A-BE98641E9640}" srcOrd="0" destOrd="0" parTransId="{F926374B-9933-4A3D-B961-356A6BE58D05}" sibTransId="{31C6175E-A3F4-4E4B-B2E5-D4B9C13898B2}"/>
    <dgm:cxn modelId="{FD0D3D08-C8EE-465C-B70F-6B58AB5851B9}" srcId="{342DAB60-4F96-41E8-953C-9C78650AC44B}" destId="{D20C5527-57B9-4D91-AF41-27C6F16FFAAF}" srcOrd="1" destOrd="0" parTransId="{D4A824D7-D9CD-4CAE-BCDF-BF03D0AFFDA5}" sibTransId="{02051995-F248-418F-95D6-488BE7528B07}"/>
    <dgm:cxn modelId="{271C7520-8A4F-427D-ABEF-8F6F192D3626}" type="presOf" srcId="{342DAB60-4F96-41E8-953C-9C78650AC44B}" destId="{7CA1A8D0-0C22-4279-B37F-DB359366B272}" srcOrd="0" destOrd="0" presId="urn:microsoft.com/office/officeart/2018/5/layout/IconCircleLabelList"/>
    <dgm:cxn modelId="{8CA8BFA1-542E-44B0-B39C-E373F1906C3A}" type="presOf" srcId="{1FC7D638-BA50-4CB9-BA6B-D76CD04D97A0}" destId="{2A56D103-0AB2-4AA3-A1F8-4C1FBE0C15DF}" srcOrd="0" destOrd="0" presId="urn:microsoft.com/office/officeart/2018/5/layout/IconCircleLabelList"/>
    <dgm:cxn modelId="{6C8D54A3-9899-4DAB-94ED-B1F68C12A455}" srcId="{342DAB60-4F96-41E8-953C-9C78650AC44B}" destId="{1FC7D638-BA50-4CB9-BA6B-D76CD04D97A0}" srcOrd="3" destOrd="0" parTransId="{B50BBDDA-7602-489E-88CA-B8BC92A478EB}" sibTransId="{FB391ED3-A0A2-469D-A5F1-10FF82B0AAB9}"/>
    <dgm:cxn modelId="{7D499BDB-092E-4B09-8FEA-F3984D7B77FE}" type="presOf" srcId="{CBE01376-04D0-4570-998A-BE98641E9640}" destId="{8AB1D054-4A88-4B09-9BE1-8008E31D1268}" srcOrd="0" destOrd="0" presId="urn:microsoft.com/office/officeart/2018/5/layout/IconCircleLabelList"/>
    <dgm:cxn modelId="{C33512E2-4A18-4D56-83AE-2B2A631A5E55}" srcId="{342DAB60-4F96-41E8-953C-9C78650AC44B}" destId="{13CC734A-7D7F-4450-8FE9-A8B95D923254}" srcOrd="2" destOrd="0" parTransId="{B32D8AC2-7611-4E5B-AE6B-7B73FBDD2453}" sibTransId="{91B5F2D8-5433-4F65-985F-7C80F8DC9221}"/>
    <dgm:cxn modelId="{8ED5FAE4-274E-4F9E-9CD8-43FE1A15270A}" type="presOf" srcId="{13CC734A-7D7F-4450-8FE9-A8B95D923254}" destId="{07B3884E-71CA-4583-B27C-AD5FF5503E9B}" srcOrd="0" destOrd="0" presId="urn:microsoft.com/office/officeart/2018/5/layout/IconCircleLabelList"/>
    <dgm:cxn modelId="{42F1F10B-3460-4F99-99C4-55BCEBDFBB4C}" type="presParOf" srcId="{7CA1A8D0-0C22-4279-B37F-DB359366B272}" destId="{C29DCA71-DAD1-4365-8BF9-15D0F0E55378}" srcOrd="0" destOrd="0" presId="urn:microsoft.com/office/officeart/2018/5/layout/IconCircleLabelList"/>
    <dgm:cxn modelId="{706E752A-D8F1-4A9E-BEFD-D189D17A153A}" type="presParOf" srcId="{C29DCA71-DAD1-4365-8BF9-15D0F0E55378}" destId="{42EE9567-932C-4B9D-8BF5-ED4A4A5B0AF3}" srcOrd="0" destOrd="0" presId="urn:microsoft.com/office/officeart/2018/5/layout/IconCircleLabelList"/>
    <dgm:cxn modelId="{BE5850A1-A6CE-40BF-ABF7-F78AF287D416}" type="presParOf" srcId="{C29DCA71-DAD1-4365-8BF9-15D0F0E55378}" destId="{FB468F8D-80AA-457B-9A4A-E342DF91F021}" srcOrd="1" destOrd="0" presId="urn:microsoft.com/office/officeart/2018/5/layout/IconCircleLabelList"/>
    <dgm:cxn modelId="{45EC3ABA-B225-4FD3-B7D4-E204CFB25D7E}" type="presParOf" srcId="{C29DCA71-DAD1-4365-8BF9-15D0F0E55378}" destId="{8F3EF63D-4A07-4C42-82F8-298E367DBA86}" srcOrd="2" destOrd="0" presId="urn:microsoft.com/office/officeart/2018/5/layout/IconCircleLabelList"/>
    <dgm:cxn modelId="{57832E81-5E7E-4B64-872C-482B08BC59E3}" type="presParOf" srcId="{C29DCA71-DAD1-4365-8BF9-15D0F0E55378}" destId="{8AB1D054-4A88-4B09-9BE1-8008E31D1268}" srcOrd="3" destOrd="0" presId="urn:microsoft.com/office/officeart/2018/5/layout/IconCircleLabelList"/>
    <dgm:cxn modelId="{8ED4513C-DEEE-4828-8904-9AEB2293F387}" type="presParOf" srcId="{7CA1A8D0-0C22-4279-B37F-DB359366B272}" destId="{1A040AEC-581B-424C-8D55-2B4ABE0EF1FE}" srcOrd="1" destOrd="0" presId="urn:microsoft.com/office/officeart/2018/5/layout/IconCircleLabelList"/>
    <dgm:cxn modelId="{2C36E98E-9362-46EE-A99A-97DA9531618A}" type="presParOf" srcId="{7CA1A8D0-0C22-4279-B37F-DB359366B272}" destId="{7555BD07-924C-4D14-A7D8-2387BE049EFF}" srcOrd="2" destOrd="0" presId="urn:microsoft.com/office/officeart/2018/5/layout/IconCircleLabelList"/>
    <dgm:cxn modelId="{019045AF-A8B5-448B-A74E-1428AFA60853}" type="presParOf" srcId="{7555BD07-924C-4D14-A7D8-2387BE049EFF}" destId="{871CEA45-EA4C-4C92-84FD-61105E6C05BA}" srcOrd="0" destOrd="0" presId="urn:microsoft.com/office/officeart/2018/5/layout/IconCircleLabelList"/>
    <dgm:cxn modelId="{A6A24563-6FAF-4043-B6F9-39CCC471B2FA}" type="presParOf" srcId="{7555BD07-924C-4D14-A7D8-2387BE049EFF}" destId="{B0371210-81B5-4AC0-B029-2C00DD792E4C}" srcOrd="1" destOrd="0" presId="urn:microsoft.com/office/officeart/2018/5/layout/IconCircleLabelList"/>
    <dgm:cxn modelId="{B9BB793D-9351-4DB0-BE14-1CFC226433A0}" type="presParOf" srcId="{7555BD07-924C-4D14-A7D8-2387BE049EFF}" destId="{C2BBC886-F5AC-4D63-9105-DD7FEABBF3DE}" srcOrd="2" destOrd="0" presId="urn:microsoft.com/office/officeart/2018/5/layout/IconCircleLabelList"/>
    <dgm:cxn modelId="{FC291C3E-BCA0-4BEC-80F4-7C08C5CF7FAD}" type="presParOf" srcId="{7555BD07-924C-4D14-A7D8-2387BE049EFF}" destId="{7FABB139-CE9D-4459-9671-6E2B3525671E}" srcOrd="3" destOrd="0" presId="urn:microsoft.com/office/officeart/2018/5/layout/IconCircleLabelList"/>
    <dgm:cxn modelId="{9168D987-437E-4852-A9B1-D664B5260BF0}" type="presParOf" srcId="{7CA1A8D0-0C22-4279-B37F-DB359366B272}" destId="{421B4A3E-A057-4F88-BEDC-2D3075D9D4B3}" srcOrd="3" destOrd="0" presId="urn:microsoft.com/office/officeart/2018/5/layout/IconCircleLabelList"/>
    <dgm:cxn modelId="{64B56B8D-2F74-4D01-9E5A-7D71CDC6836D}" type="presParOf" srcId="{7CA1A8D0-0C22-4279-B37F-DB359366B272}" destId="{711AB505-0E42-4039-A1EB-9DE69F88DA63}" srcOrd="4" destOrd="0" presId="urn:microsoft.com/office/officeart/2018/5/layout/IconCircleLabelList"/>
    <dgm:cxn modelId="{6487D3DE-A554-4F53-9C76-61CAA3D83DAB}" type="presParOf" srcId="{711AB505-0E42-4039-A1EB-9DE69F88DA63}" destId="{F6042744-CDCE-4AE2-8C94-EBB70177B924}" srcOrd="0" destOrd="0" presId="urn:microsoft.com/office/officeart/2018/5/layout/IconCircleLabelList"/>
    <dgm:cxn modelId="{45972C98-6788-460E-8B3F-3FC5FB21C740}" type="presParOf" srcId="{711AB505-0E42-4039-A1EB-9DE69F88DA63}" destId="{D37B6061-03BC-4EEB-A699-C11B725CB47D}" srcOrd="1" destOrd="0" presId="urn:microsoft.com/office/officeart/2018/5/layout/IconCircleLabelList"/>
    <dgm:cxn modelId="{B16F5295-4A11-432C-A253-784E666AE062}" type="presParOf" srcId="{711AB505-0E42-4039-A1EB-9DE69F88DA63}" destId="{C3C7D594-F32A-4224-9B4E-E1D0C445B8ED}" srcOrd="2" destOrd="0" presId="urn:microsoft.com/office/officeart/2018/5/layout/IconCircleLabelList"/>
    <dgm:cxn modelId="{65DC79AB-3382-419E-85EA-9357D6DBAF01}" type="presParOf" srcId="{711AB505-0E42-4039-A1EB-9DE69F88DA63}" destId="{07B3884E-71CA-4583-B27C-AD5FF5503E9B}" srcOrd="3" destOrd="0" presId="urn:microsoft.com/office/officeart/2018/5/layout/IconCircleLabelList"/>
    <dgm:cxn modelId="{EAE70A2A-1B33-4C66-A8FD-3FDC11C37870}" type="presParOf" srcId="{7CA1A8D0-0C22-4279-B37F-DB359366B272}" destId="{6069E42E-00E0-48D6-9758-FD02DB2B2870}" srcOrd="5" destOrd="0" presId="urn:microsoft.com/office/officeart/2018/5/layout/IconCircleLabelList"/>
    <dgm:cxn modelId="{B760AD52-52BF-43ED-95E9-DBE44D79A441}" type="presParOf" srcId="{7CA1A8D0-0C22-4279-B37F-DB359366B272}" destId="{B06322E0-5610-4010-A724-1505BF0D2988}" srcOrd="6" destOrd="0" presId="urn:microsoft.com/office/officeart/2018/5/layout/IconCircleLabelList"/>
    <dgm:cxn modelId="{1E9DA2A8-253C-4A42-ADDB-B2D1E4B652E9}" type="presParOf" srcId="{B06322E0-5610-4010-A724-1505BF0D2988}" destId="{3F072103-906A-4CDC-8969-20FDCD497F2A}" srcOrd="0" destOrd="0" presId="urn:microsoft.com/office/officeart/2018/5/layout/IconCircleLabelList"/>
    <dgm:cxn modelId="{BC3F1423-482F-4311-9E92-E886DAEFAE0B}" type="presParOf" srcId="{B06322E0-5610-4010-A724-1505BF0D2988}" destId="{ADDC411B-7064-4A39-9761-D0C491D5B2C6}" srcOrd="1" destOrd="0" presId="urn:microsoft.com/office/officeart/2018/5/layout/IconCircleLabelList"/>
    <dgm:cxn modelId="{59F3505A-C83B-4B35-88AF-42B85DF96475}" type="presParOf" srcId="{B06322E0-5610-4010-A724-1505BF0D2988}" destId="{8CE5FD2D-92EC-46A0-B144-98D3BCE3ECB2}" srcOrd="2" destOrd="0" presId="urn:microsoft.com/office/officeart/2018/5/layout/IconCircleLabelList"/>
    <dgm:cxn modelId="{2F31B6E1-C3A5-4162-B866-1CE0DA353E9E}" type="presParOf" srcId="{B06322E0-5610-4010-A724-1505BF0D2988}" destId="{2A56D103-0AB2-4AA3-A1F8-4C1FBE0C15D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0D919E-451F-494B-88E0-25A431D06019}">
      <dsp:nvSpPr>
        <dsp:cNvPr id="0" name=""/>
        <dsp:cNvSpPr/>
      </dsp:nvSpPr>
      <dsp:spPr>
        <a:xfrm>
          <a:off x="0" y="4520"/>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FC837C-7247-4742-8788-B5390AB98858}">
      <dsp:nvSpPr>
        <dsp:cNvPr id="0" name=""/>
        <dsp:cNvSpPr/>
      </dsp:nvSpPr>
      <dsp:spPr>
        <a:xfrm>
          <a:off x="291287" y="221180"/>
          <a:ext cx="529612" cy="5296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E4280F-BEB0-4CEF-AC76-EC3841CADB87}">
      <dsp:nvSpPr>
        <dsp:cNvPr id="0" name=""/>
        <dsp:cNvSpPr/>
      </dsp:nvSpPr>
      <dsp:spPr>
        <a:xfrm>
          <a:off x="1112187" y="4520"/>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755650">
            <a:lnSpc>
              <a:spcPct val="90000"/>
            </a:lnSpc>
            <a:spcBef>
              <a:spcPct val="0"/>
            </a:spcBef>
            <a:spcAft>
              <a:spcPct val="35000"/>
            </a:spcAft>
            <a:buNone/>
          </a:pPr>
          <a:r>
            <a:rPr lang="en-US" sz="1700" kern="1200"/>
            <a:t>Why this project exists</a:t>
          </a:r>
        </a:p>
      </dsp:txBody>
      <dsp:txXfrm>
        <a:off x="1112187" y="4520"/>
        <a:ext cx="5837252" cy="962932"/>
      </dsp:txXfrm>
    </dsp:sp>
    <dsp:sp modelId="{336FAFE2-C144-405F-960D-FA985EFA806A}">
      <dsp:nvSpPr>
        <dsp:cNvPr id="0" name=""/>
        <dsp:cNvSpPr/>
      </dsp:nvSpPr>
      <dsp:spPr>
        <a:xfrm>
          <a:off x="0" y="1208186"/>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591386-AF3A-4E33-9153-8FA7E3A904C3}">
      <dsp:nvSpPr>
        <dsp:cNvPr id="0" name=""/>
        <dsp:cNvSpPr/>
      </dsp:nvSpPr>
      <dsp:spPr>
        <a:xfrm>
          <a:off x="291287" y="1424846"/>
          <a:ext cx="529612" cy="5296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A42150-2537-4B6B-9101-198279F24A72}">
      <dsp:nvSpPr>
        <dsp:cNvPr id="0" name=""/>
        <dsp:cNvSpPr/>
      </dsp:nvSpPr>
      <dsp:spPr>
        <a:xfrm>
          <a:off x="1112187" y="1208186"/>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755650">
            <a:lnSpc>
              <a:spcPct val="90000"/>
            </a:lnSpc>
            <a:spcBef>
              <a:spcPct val="0"/>
            </a:spcBef>
            <a:spcAft>
              <a:spcPct val="35000"/>
            </a:spcAft>
            <a:buNone/>
          </a:pPr>
          <a:r>
            <a:rPr lang="en-US" sz="1700" kern="1200"/>
            <a:t>I noticed I wanted to keep track of certain companies I have applied to.</a:t>
          </a:r>
        </a:p>
      </dsp:txBody>
      <dsp:txXfrm>
        <a:off x="1112187" y="1208186"/>
        <a:ext cx="5837252" cy="962932"/>
      </dsp:txXfrm>
    </dsp:sp>
    <dsp:sp modelId="{654AD750-FDCF-4B39-A10B-B01EFB01DEC4}">
      <dsp:nvSpPr>
        <dsp:cNvPr id="0" name=""/>
        <dsp:cNvSpPr/>
      </dsp:nvSpPr>
      <dsp:spPr>
        <a:xfrm>
          <a:off x="0" y="2411852"/>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0F6FB3-D9FE-4825-A8E2-83B5500E0A6F}">
      <dsp:nvSpPr>
        <dsp:cNvPr id="0" name=""/>
        <dsp:cNvSpPr/>
      </dsp:nvSpPr>
      <dsp:spPr>
        <a:xfrm>
          <a:off x="291287" y="2628512"/>
          <a:ext cx="529612" cy="5296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CF6DBA-0433-478D-BB9C-7E4DBEE54747}">
      <dsp:nvSpPr>
        <dsp:cNvPr id="0" name=""/>
        <dsp:cNvSpPr/>
      </dsp:nvSpPr>
      <dsp:spPr>
        <a:xfrm>
          <a:off x="1112187" y="2411852"/>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755650">
            <a:lnSpc>
              <a:spcPct val="90000"/>
            </a:lnSpc>
            <a:spcBef>
              <a:spcPct val="0"/>
            </a:spcBef>
            <a:spcAft>
              <a:spcPct val="35000"/>
            </a:spcAft>
            <a:buNone/>
          </a:pPr>
          <a:r>
            <a:rPr lang="en-US" sz="1700" kern="1200"/>
            <a:t>This project is for me to track jobs across different companies. Most companies have their own dash board but I needed a centralized place. </a:t>
          </a:r>
        </a:p>
      </dsp:txBody>
      <dsp:txXfrm>
        <a:off x="1112187" y="2411852"/>
        <a:ext cx="5837252" cy="962932"/>
      </dsp:txXfrm>
    </dsp:sp>
    <dsp:sp modelId="{B5F114F3-C1B5-4FBF-B035-9378A432C225}">
      <dsp:nvSpPr>
        <dsp:cNvPr id="0" name=""/>
        <dsp:cNvSpPr/>
      </dsp:nvSpPr>
      <dsp:spPr>
        <a:xfrm>
          <a:off x="0" y="3615517"/>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6D5BEB-6D67-48FB-A1F0-0A2222438B8F}">
      <dsp:nvSpPr>
        <dsp:cNvPr id="0" name=""/>
        <dsp:cNvSpPr/>
      </dsp:nvSpPr>
      <dsp:spPr>
        <a:xfrm>
          <a:off x="291287" y="3832177"/>
          <a:ext cx="529612" cy="5296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3D6F35-7C48-4A06-930D-B810BFDDA9C4}">
      <dsp:nvSpPr>
        <dsp:cNvPr id="0" name=""/>
        <dsp:cNvSpPr/>
      </dsp:nvSpPr>
      <dsp:spPr>
        <a:xfrm>
          <a:off x="1112187" y="3615517"/>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755650">
            <a:lnSpc>
              <a:spcPct val="90000"/>
            </a:lnSpc>
            <a:spcBef>
              <a:spcPct val="0"/>
            </a:spcBef>
            <a:spcAft>
              <a:spcPct val="35000"/>
            </a:spcAft>
            <a:buNone/>
          </a:pPr>
          <a:r>
            <a:rPr lang="en-US" sz="1700" kern="1200"/>
            <a:t>Yes maybe LinkedIn can hold all of the applications I have done there but I wanted to be able to customize the information shared. For example, notes for the job.</a:t>
          </a:r>
        </a:p>
      </dsp:txBody>
      <dsp:txXfrm>
        <a:off x="1112187" y="3615517"/>
        <a:ext cx="5837252" cy="962932"/>
      </dsp:txXfrm>
    </dsp:sp>
    <dsp:sp modelId="{763A9309-D3EF-4F61-92C7-7ACC3E426C9D}">
      <dsp:nvSpPr>
        <dsp:cNvPr id="0" name=""/>
        <dsp:cNvSpPr/>
      </dsp:nvSpPr>
      <dsp:spPr>
        <a:xfrm>
          <a:off x="0" y="4819183"/>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4A3EB2-3C5C-4433-942B-2312E4E3AA12}">
      <dsp:nvSpPr>
        <dsp:cNvPr id="0" name=""/>
        <dsp:cNvSpPr/>
      </dsp:nvSpPr>
      <dsp:spPr>
        <a:xfrm>
          <a:off x="291287" y="5035843"/>
          <a:ext cx="529612" cy="5296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727046-F3A4-4DBC-9257-BB6C0F4811C6}">
      <dsp:nvSpPr>
        <dsp:cNvPr id="0" name=""/>
        <dsp:cNvSpPr/>
      </dsp:nvSpPr>
      <dsp:spPr>
        <a:xfrm>
          <a:off x="1112187" y="4819183"/>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755650">
            <a:lnSpc>
              <a:spcPct val="90000"/>
            </a:lnSpc>
            <a:spcBef>
              <a:spcPct val="0"/>
            </a:spcBef>
            <a:spcAft>
              <a:spcPct val="35000"/>
            </a:spcAft>
            <a:buNone/>
          </a:pPr>
          <a:r>
            <a:rPr lang="en-US" sz="1700" kern="1200"/>
            <a:t>I also really wanted to challenge myself so I can grow. I really needed something beyond coursework that I could work on and test my skills. </a:t>
          </a:r>
        </a:p>
      </dsp:txBody>
      <dsp:txXfrm>
        <a:off x="1112187" y="4819183"/>
        <a:ext cx="5837252" cy="9629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E9567-932C-4B9D-8BF5-ED4A4A5B0AF3}">
      <dsp:nvSpPr>
        <dsp:cNvPr id="0" name=""/>
        <dsp:cNvSpPr/>
      </dsp:nvSpPr>
      <dsp:spPr>
        <a:xfrm>
          <a:off x="569308" y="898551"/>
          <a:ext cx="1446654" cy="144665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468F8D-80AA-457B-9A4A-E342DF91F021}">
      <dsp:nvSpPr>
        <dsp:cNvPr id="0" name=""/>
        <dsp:cNvSpPr/>
      </dsp:nvSpPr>
      <dsp:spPr>
        <a:xfrm>
          <a:off x="877611" y="1206854"/>
          <a:ext cx="830047" cy="8300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B1D054-4A88-4B09-9BE1-8008E31D1268}">
      <dsp:nvSpPr>
        <dsp:cNvPr id="0" name=""/>
        <dsp:cNvSpPr/>
      </dsp:nvSpPr>
      <dsp:spPr>
        <a:xfrm>
          <a:off x="106853" y="2795802"/>
          <a:ext cx="23715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Keeping UI state shareable and refresh safe</a:t>
          </a:r>
        </a:p>
      </dsp:txBody>
      <dsp:txXfrm>
        <a:off x="106853" y="2795802"/>
        <a:ext cx="2371564" cy="720000"/>
      </dsp:txXfrm>
    </dsp:sp>
    <dsp:sp modelId="{871CEA45-EA4C-4C92-84FD-61105E6C05BA}">
      <dsp:nvSpPr>
        <dsp:cNvPr id="0" name=""/>
        <dsp:cNvSpPr/>
      </dsp:nvSpPr>
      <dsp:spPr>
        <a:xfrm>
          <a:off x="3355896" y="898551"/>
          <a:ext cx="1446654" cy="144665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371210-81B5-4AC0-B029-2C00DD792E4C}">
      <dsp:nvSpPr>
        <dsp:cNvPr id="0" name=""/>
        <dsp:cNvSpPr/>
      </dsp:nvSpPr>
      <dsp:spPr>
        <a:xfrm>
          <a:off x="3664200" y="1206854"/>
          <a:ext cx="830047" cy="8300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ABB139-CE9D-4459-9671-6E2B3525671E}">
      <dsp:nvSpPr>
        <dsp:cNvPr id="0" name=""/>
        <dsp:cNvSpPr/>
      </dsp:nvSpPr>
      <dsp:spPr>
        <a:xfrm>
          <a:off x="2893441" y="2795802"/>
          <a:ext cx="23715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Preventing stale API responses during rapid changes</a:t>
          </a:r>
        </a:p>
      </dsp:txBody>
      <dsp:txXfrm>
        <a:off x="2893441" y="2795802"/>
        <a:ext cx="2371564" cy="720000"/>
      </dsp:txXfrm>
    </dsp:sp>
    <dsp:sp modelId="{F6042744-CDCE-4AE2-8C94-EBB70177B924}">
      <dsp:nvSpPr>
        <dsp:cNvPr id="0" name=""/>
        <dsp:cNvSpPr/>
      </dsp:nvSpPr>
      <dsp:spPr>
        <a:xfrm>
          <a:off x="6142485" y="898551"/>
          <a:ext cx="1446654" cy="144665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7B6061-03BC-4EEB-A699-C11B725CB47D}">
      <dsp:nvSpPr>
        <dsp:cNvPr id="0" name=""/>
        <dsp:cNvSpPr/>
      </dsp:nvSpPr>
      <dsp:spPr>
        <a:xfrm>
          <a:off x="6450788" y="1206854"/>
          <a:ext cx="830047" cy="8300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B3884E-71CA-4583-B27C-AD5FF5503E9B}">
      <dsp:nvSpPr>
        <dsp:cNvPr id="0" name=""/>
        <dsp:cNvSpPr/>
      </dsp:nvSpPr>
      <dsp:spPr>
        <a:xfrm>
          <a:off x="5680030" y="2795802"/>
          <a:ext cx="23715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Ensuring frontend and backend enums stay aligned</a:t>
          </a:r>
        </a:p>
      </dsp:txBody>
      <dsp:txXfrm>
        <a:off x="5680030" y="2795802"/>
        <a:ext cx="2371564" cy="720000"/>
      </dsp:txXfrm>
    </dsp:sp>
    <dsp:sp modelId="{3F072103-906A-4CDC-8969-20FDCD497F2A}">
      <dsp:nvSpPr>
        <dsp:cNvPr id="0" name=""/>
        <dsp:cNvSpPr/>
      </dsp:nvSpPr>
      <dsp:spPr>
        <a:xfrm>
          <a:off x="8929074" y="898551"/>
          <a:ext cx="1446654" cy="144665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DC411B-7064-4A39-9761-D0C491D5B2C6}">
      <dsp:nvSpPr>
        <dsp:cNvPr id="0" name=""/>
        <dsp:cNvSpPr/>
      </dsp:nvSpPr>
      <dsp:spPr>
        <a:xfrm>
          <a:off x="9237377" y="1206854"/>
          <a:ext cx="830047" cy="8300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56D103-0AB2-4AA3-A1F8-4C1FBE0C15DF}">
      <dsp:nvSpPr>
        <dsp:cNvPr id="0" name=""/>
        <dsp:cNvSpPr/>
      </dsp:nvSpPr>
      <dsp:spPr>
        <a:xfrm>
          <a:off x="8466619" y="2795802"/>
          <a:ext cx="23715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Balancing rich interactions with predictable behavior</a:t>
          </a:r>
        </a:p>
      </dsp:txBody>
      <dsp:txXfrm>
        <a:off x="8466619" y="2795802"/>
        <a:ext cx="2371564"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5229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266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42183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242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161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55235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90378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6261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103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134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6155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07414509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0_68C49C6.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8/10/relationships/comments" Target="../comments/modernComment_105_D5219A7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06_843EF52F.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2" Type="http://schemas.microsoft.com/office/2018/10/relationships/comments" Target="../comments/modernComment_107_7BAF399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108_CDC7352F.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109_6505701C.xml"/><Relationship Id="rId1" Type="http://schemas.openxmlformats.org/officeDocument/2006/relationships/slideLayout" Target="../slideLayouts/slideLayout2.xml"/><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12648" y="603504"/>
            <a:ext cx="3553412" cy="1527048"/>
          </a:xfrm>
        </p:spPr>
        <p:txBody>
          <a:bodyPr vert="horz" lIns="91440" tIns="45720" rIns="91440" bIns="45720" rtlCol="0" anchor="b">
            <a:normAutofit/>
          </a:bodyPr>
          <a:lstStyle/>
          <a:p>
            <a:pPr algn="l"/>
            <a:r>
              <a:rPr lang="en-US" sz="3600" b="1" kern="1200" dirty="0">
                <a:solidFill>
                  <a:schemeClr val="tx1"/>
                </a:solidFill>
                <a:latin typeface="+mj-lt"/>
                <a:ea typeface="+mj-ea"/>
                <a:cs typeface="+mj-cs"/>
              </a:rPr>
              <a:t>Job Tracker</a:t>
            </a:r>
          </a:p>
        </p:txBody>
      </p:sp>
      <p:sp>
        <p:nvSpPr>
          <p:cNvPr id="3" name="Subtitle 2"/>
          <p:cNvSpPr>
            <a:spLocks noGrp="1"/>
          </p:cNvSpPr>
          <p:nvPr>
            <p:ph type="subTitle" idx="1"/>
          </p:nvPr>
        </p:nvSpPr>
        <p:spPr>
          <a:xfrm>
            <a:off x="612648" y="2212848"/>
            <a:ext cx="3553412" cy="4122420"/>
          </a:xfrm>
        </p:spPr>
        <p:txBody>
          <a:bodyPr vert="horz" lIns="91440" tIns="45720" rIns="91440" bIns="45720" rtlCol="0" anchor="t">
            <a:normAutofit fontScale="92500" lnSpcReduction="10000"/>
          </a:bodyPr>
          <a:lstStyle/>
          <a:p>
            <a:pPr indent="-228600" algn="l">
              <a:buFont typeface="Arial" panose="020B0604020202020204" pitchFamily="34" charset="0"/>
              <a:buChar char="•"/>
            </a:pPr>
            <a:r>
              <a:rPr lang="en-US" dirty="0"/>
              <a:t>A full-stack job application tracker with Kanban workflow and file attachments</a:t>
            </a:r>
          </a:p>
          <a:p>
            <a:pPr indent="-228600" algn="l">
              <a:buFont typeface="Arial" panose="020B0604020202020204" pitchFamily="34" charset="0"/>
              <a:buChar char="•"/>
            </a:pPr>
            <a:r>
              <a:rPr lang="en-US" dirty="0"/>
              <a:t>Tech Stack: .NET 8 platform/framework</a:t>
            </a:r>
            <a:endParaRPr lang="en-US"/>
          </a:p>
          <a:p>
            <a:pPr indent="-228600" algn="l">
              <a:buFont typeface="Arial" panose="020B0604020202020204" pitchFamily="34" charset="0"/>
              <a:buChar char="•"/>
            </a:pPr>
            <a:r>
              <a:rPr lang="en-US" dirty="0"/>
              <a:t>Minimal API Style</a:t>
            </a:r>
            <a:endParaRPr lang="en-US"/>
          </a:p>
          <a:p>
            <a:pPr indent="-228600" algn="l">
              <a:buFont typeface="Arial" panose="020B0604020202020204" pitchFamily="34" charset="0"/>
              <a:buChar char="•"/>
            </a:pPr>
            <a:r>
              <a:rPr lang="en-US" dirty="0"/>
              <a:t>EF Core – No raw SQL queries</a:t>
            </a:r>
          </a:p>
          <a:p>
            <a:pPr indent="-228600" algn="l">
              <a:buFont typeface="Arial" panose="020B0604020202020204" pitchFamily="34" charset="0"/>
              <a:buChar char="•"/>
            </a:pPr>
            <a:r>
              <a:rPr lang="en-US" dirty="0"/>
              <a:t>React – Modern components</a:t>
            </a:r>
          </a:p>
          <a:p>
            <a:pPr indent="-228600" algn="l">
              <a:buFont typeface="Arial" panose="020B0604020202020204" pitchFamily="34" charset="0"/>
              <a:buChar char="•"/>
            </a:pPr>
            <a:r>
              <a:rPr lang="en-US" dirty="0"/>
              <a:t>JWT – User auth</a:t>
            </a:r>
          </a:p>
          <a:p>
            <a:pPr indent="-228600" algn="l">
              <a:buFont typeface="Arial" panose="020B0604020202020204" pitchFamily="34" charset="0"/>
              <a:buChar char="•"/>
            </a:pPr>
            <a:r>
              <a:rPr lang="en-US" dirty="0"/>
              <a:t>AWS S3 – External File Storage</a:t>
            </a:r>
          </a:p>
        </p:txBody>
      </p:sp>
      <p:pic>
        <p:nvPicPr>
          <p:cNvPr id="4" name="Picture 3">
            <a:extLst>
              <a:ext uri="{FF2B5EF4-FFF2-40B4-BE49-F238E27FC236}">
                <a16:creationId xmlns:a16="http://schemas.microsoft.com/office/drawing/2014/main" id="{6412A87D-E03A-3AC3-9A3E-189E9C203170}"/>
              </a:ext>
            </a:extLst>
          </p:cNvPr>
          <p:cNvPicPr>
            <a:picLocks noChangeAspect="1"/>
          </p:cNvPicPr>
          <p:nvPr/>
        </p:nvPicPr>
        <p:blipFill>
          <a:blip r:embed="rId3"/>
          <a:srcRect l="8507" r="19873" b="-9"/>
          <a:stretch>
            <a:fillRect/>
          </a:stretch>
        </p:blipFill>
        <p:spPr>
          <a:xfrm>
            <a:off x="4752550" y="10"/>
            <a:ext cx="7439450" cy="6857990"/>
          </a:xfrm>
          <a:prstGeom prst="rect">
            <a:avLst/>
          </a:prstGeom>
        </p:spPr>
      </p:pic>
    </p:spTree>
    <p:extLst>
      <p:ext uri="{BB962C8B-B14F-4D97-AF65-F5344CB8AC3E}">
        <p14:creationId xmlns:p14="http://schemas.microsoft.com/office/powerpoint/2010/main" val="10985722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056BCB-5A0C-ED07-A0FC-D5E2F6598E51}"/>
              </a:ext>
            </a:extLst>
          </p:cNvPr>
          <p:cNvSpPr>
            <a:spLocks noGrp="1"/>
          </p:cNvSpPr>
          <p:nvPr>
            <p:ph type="title"/>
          </p:nvPr>
        </p:nvSpPr>
        <p:spPr>
          <a:xfrm>
            <a:off x="612649" y="548639"/>
            <a:ext cx="3494314" cy="5786638"/>
          </a:xfrm>
        </p:spPr>
        <p:txBody>
          <a:bodyPr anchor="t">
            <a:normAutofit/>
          </a:bodyPr>
          <a:lstStyle/>
          <a:p>
            <a:r>
              <a:rPr lang="en-US" b="0" dirty="0">
                <a:ea typeface="+mj-lt"/>
                <a:cs typeface="+mj-lt"/>
              </a:rPr>
              <a:t>Problem Statement</a:t>
            </a:r>
            <a:endParaRPr lang="en-US" dirty="0"/>
          </a:p>
        </p:txBody>
      </p:sp>
      <p:graphicFrame>
        <p:nvGraphicFramePr>
          <p:cNvPr id="5" name="Content Placeholder 2">
            <a:extLst>
              <a:ext uri="{FF2B5EF4-FFF2-40B4-BE49-F238E27FC236}">
                <a16:creationId xmlns:a16="http://schemas.microsoft.com/office/drawing/2014/main" id="{3284F223-4205-1A32-F43A-69CD30F7758A}"/>
              </a:ext>
            </a:extLst>
          </p:cNvPr>
          <p:cNvGraphicFramePr>
            <a:graphicFrameLocks noGrp="1"/>
          </p:cNvGraphicFramePr>
          <p:nvPr>
            <p:ph idx="1"/>
            <p:extLst>
              <p:ext uri="{D42A27DB-BD31-4B8C-83A1-F6EECF244321}">
                <p14:modId xmlns:p14="http://schemas.microsoft.com/office/powerpoint/2010/main" val="840251172"/>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0880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12DB6B-75FF-1054-2871-F6415F8BCCBF}"/>
              </a:ext>
            </a:extLst>
          </p:cNvPr>
          <p:cNvSpPr>
            <a:spLocks noGrp="1"/>
          </p:cNvSpPr>
          <p:nvPr>
            <p:ph type="title"/>
          </p:nvPr>
        </p:nvSpPr>
        <p:spPr>
          <a:xfrm>
            <a:off x="612648" y="600074"/>
            <a:ext cx="6035040" cy="1529932"/>
          </a:xfrm>
        </p:spPr>
        <p:txBody>
          <a:bodyPr anchor="b">
            <a:normAutofit/>
          </a:bodyPr>
          <a:lstStyle/>
          <a:p>
            <a:r>
              <a:rPr lang="en-US" b="0" dirty="0">
                <a:ea typeface="+mj-lt"/>
                <a:cs typeface="+mj-lt"/>
              </a:rPr>
              <a:t>High-Level Architecture</a:t>
            </a:r>
            <a:endParaRPr lang="en-US" dirty="0"/>
          </a:p>
        </p:txBody>
      </p:sp>
      <p:sp>
        <p:nvSpPr>
          <p:cNvPr id="3" name="Content Placeholder 2">
            <a:extLst>
              <a:ext uri="{FF2B5EF4-FFF2-40B4-BE49-F238E27FC236}">
                <a16:creationId xmlns:a16="http://schemas.microsoft.com/office/drawing/2014/main" id="{DB14447B-FA7D-DC03-6C0A-09C6C5FDD7AA}"/>
              </a:ext>
            </a:extLst>
          </p:cNvPr>
          <p:cNvSpPr>
            <a:spLocks noGrp="1"/>
          </p:cNvSpPr>
          <p:nvPr>
            <p:ph idx="1"/>
          </p:nvPr>
        </p:nvSpPr>
        <p:spPr>
          <a:xfrm>
            <a:off x="612647" y="2212848"/>
            <a:ext cx="6035041" cy="4096512"/>
          </a:xfrm>
        </p:spPr>
        <p:txBody>
          <a:bodyPr vert="horz" lIns="91440" tIns="45720" rIns="91440" bIns="45720" rtlCol="0">
            <a:normAutofit/>
          </a:bodyPr>
          <a:lstStyle/>
          <a:p>
            <a:pPr marL="0" indent="0">
              <a:buNone/>
            </a:pPr>
            <a:r>
              <a:rPr lang="en-US" sz="1800">
                <a:ea typeface="+mn-lt"/>
                <a:cs typeface="+mn-lt"/>
              </a:rPr>
              <a:t>How the system is structured</a:t>
            </a:r>
          </a:p>
          <a:p>
            <a:pPr marL="0" indent="0">
              <a:buNone/>
            </a:pPr>
            <a:r>
              <a:rPr lang="en-US" sz="1800">
                <a:ea typeface="+mn-lt"/>
                <a:cs typeface="+mn-lt"/>
              </a:rPr>
              <a:t>• Frontend: React (UI + state) </a:t>
            </a:r>
            <a:endParaRPr lang="en-US" sz="1800"/>
          </a:p>
          <a:p>
            <a:pPr marL="0" indent="0">
              <a:buNone/>
            </a:pPr>
            <a:r>
              <a:rPr lang="en-US" sz="1800">
                <a:ea typeface="+mn-lt"/>
                <a:cs typeface="+mn-lt"/>
              </a:rPr>
              <a:t>• Backend: .NET 8 Minimal API (business logic) </a:t>
            </a:r>
          </a:p>
          <a:p>
            <a:pPr marL="0" indent="0">
              <a:buNone/>
            </a:pPr>
            <a:r>
              <a:rPr lang="en-US" sz="1800" dirty="0">
                <a:ea typeface="+mn-lt"/>
                <a:cs typeface="+mn-lt"/>
              </a:rPr>
              <a:t>• Database: SQLite / PostgreSQL (relational data)</a:t>
            </a:r>
          </a:p>
          <a:p>
            <a:pPr marL="0" indent="0">
              <a:buNone/>
            </a:pPr>
            <a:r>
              <a:rPr lang="en-US" sz="1800" dirty="0">
                <a:ea typeface="+mn-lt"/>
                <a:cs typeface="+mn-lt"/>
              </a:rPr>
              <a:t>• Auth: JWT (stateless authentication)</a:t>
            </a:r>
          </a:p>
          <a:p>
            <a:pPr marL="0" indent="0">
              <a:buNone/>
            </a:pPr>
            <a:r>
              <a:rPr lang="en-US" sz="1800">
                <a:ea typeface="+mn-lt"/>
                <a:cs typeface="+mn-lt"/>
              </a:rPr>
              <a:t>• Storage: AWS S3 (attachments)</a:t>
            </a:r>
          </a:p>
          <a:p>
            <a:pPr marL="0" indent="0">
              <a:buNone/>
            </a:pPr>
            <a:r>
              <a:rPr lang="en-US" sz="1800"/>
              <a:t>There is a clear separation of concerns</a:t>
            </a:r>
          </a:p>
        </p:txBody>
      </p:sp>
      <p:pic>
        <p:nvPicPr>
          <p:cNvPr id="5" name="Picture 4" descr="Illuminated server room panel">
            <a:extLst>
              <a:ext uri="{FF2B5EF4-FFF2-40B4-BE49-F238E27FC236}">
                <a16:creationId xmlns:a16="http://schemas.microsoft.com/office/drawing/2014/main" id="{C61A7A4B-F285-0D8D-6A53-98B9F710D498}"/>
              </a:ext>
            </a:extLst>
          </p:cNvPr>
          <p:cNvPicPr>
            <a:picLocks noChangeAspect="1"/>
          </p:cNvPicPr>
          <p:nvPr/>
        </p:nvPicPr>
        <p:blipFill>
          <a:blip r:embed="rId2"/>
          <a:srcRect l="17317" r="35582" b="-3"/>
          <a:stretch>
            <a:fillRect/>
          </a:stretch>
        </p:blipFill>
        <p:spPr>
          <a:xfrm>
            <a:off x="7345680" y="10"/>
            <a:ext cx="4846320" cy="6857990"/>
          </a:xfrm>
          <a:prstGeom prst="rect">
            <a:avLst/>
          </a:prstGeom>
        </p:spPr>
      </p:pic>
    </p:spTree>
    <p:extLst>
      <p:ext uri="{BB962C8B-B14F-4D97-AF65-F5344CB8AC3E}">
        <p14:creationId xmlns:p14="http://schemas.microsoft.com/office/powerpoint/2010/main" val="356371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F5014F-4A9C-1EA6-BEDC-FABE73F9AC81}"/>
              </a:ext>
            </a:extLst>
          </p:cNvPr>
          <p:cNvSpPr>
            <a:spLocks noGrp="1"/>
          </p:cNvSpPr>
          <p:nvPr>
            <p:ph type="title"/>
          </p:nvPr>
        </p:nvSpPr>
        <p:spPr>
          <a:xfrm>
            <a:off x="614677" y="603504"/>
            <a:ext cx="10872216" cy="1527048"/>
          </a:xfrm>
        </p:spPr>
        <p:txBody>
          <a:bodyPr anchor="b">
            <a:normAutofit/>
          </a:bodyPr>
          <a:lstStyle/>
          <a:p>
            <a:r>
              <a:rPr lang="en-US" b="0" dirty="0">
                <a:ea typeface="+mj-lt"/>
                <a:cs typeface="+mj-lt"/>
              </a:rPr>
              <a:t>Codebase Map (Important Files)</a:t>
            </a:r>
            <a:endParaRPr lang="en-US" dirty="0"/>
          </a:p>
        </p:txBody>
      </p:sp>
      <p:pic>
        <p:nvPicPr>
          <p:cNvPr id="16" name="Graphic 15" descr="Database">
            <a:extLst>
              <a:ext uri="{FF2B5EF4-FFF2-40B4-BE49-F238E27FC236}">
                <a16:creationId xmlns:a16="http://schemas.microsoft.com/office/drawing/2014/main" id="{3827418B-0C41-9EA1-7FD2-0A9CA93D9D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4678" y="2441274"/>
            <a:ext cx="3817941" cy="3817941"/>
          </a:xfrm>
          <a:prstGeom prst="rect">
            <a:avLst/>
          </a:prstGeom>
        </p:spPr>
      </p:pic>
      <p:sp>
        <p:nvSpPr>
          <p:cNvPr id="3" name="Content Placeholder 2">
            <a:extLst>
              <a:ext uri="{FF2B5EF4-FFF2-40B4-BE49-F238E27FC236}">
                <a16:creationId xmlns:a16="http://schemas.microsoft.com/office/drawing/2014/main" id="{096B2406-5103-23AC-D953-A4EA8682F877}"/>
              </a:ext>
            </a:extLst>
          </p:cNvPr>
          <p:cNvSpPr>
            <a:spLocks noGrp="1"/>
          </p:cNvSpPr>
          <p:nvPr>
            <p:ph idx="1"/>
          </p:nvPr>
        </p:nvSpPr>
        <p:spPr>
          <a:xfrm>
            <a:off x="6096000" y="2441273"/>
            <a:ext cx="5385816" cy="3817942"/>
          </a:xfrm>
        </p:spPr>
        <p:txBody>
          <a:bodyPr vert="horz" lIns="91440" tIns="45720" rIns="91440" bIns="45720" rtlCol="0" anchor="t">
            <a:normAutofit/>
          </a:bodyPr>
          <a:lstStyle/>
          <a:p>
            <a:pPr marL="0" indent="0">
              <a:lnSpc>
                <a:spcPct val="110000"/>
              </a:lnSpc>
              <a:buNone/>
            </a:pPr>
            <a:r>
              <a:rPr lang="en-US" sz="1500">
                <a:ea typeface="+mn-lt"/>
                <a:cs typeface="+mn-lt"/>
              </a:rPr>
              <a:t>How the project is organized</a:t>
            </a:r>
          </a:p>
          <a:p>
            <a:pPr>
              <a:lnSpc>
                <a:spcPct val="110000"/>
              </a:lnSpc>
              <a:buNone/>
            </a:pPr>
            <a:r>
              <a:rPr lang="en-US" sz="1500" b="1"/>
              <a:t>Frontend</a:t>
            </a:r>
          </a:p>
          <a:p>
            <a:pPr>
              <a:lnSpc>
                <a:spcPct val="110000"/>
              </a:lnSpc>
              <a:buNone/>
            </a:pPr>
            <a:r>
              <a:rPr lang="en-US" sz="1500">
                <a:ea typeface="+mn-lt"/>
                <a:cs typeface="+mn-lt"/>
              </a:rPr>
              <a:t>• </a:t>
            </a:r>
            <a:r>
              <a:rPr lang="en-US" sz="1500">
                <a:latin typeface="Consolas"/>
                <a:ea typeface="+mn-lt"/>
                <a:cs typeface="+mn-lt"/>
              </a:rPr>
              <a:t>JobAppsPage.tsx</a:t>
            </a:r>
            <a:r>
              <a:rPr lang="en-US" sz="1500">
                <a:ea typeface="+mn-lt"/>
                <a:cs typeface="+mn-lt"/>
              </a:rPr>
              <a:t> – main page + data loading • </a:t>
            </a:r>
            <a:r>
              <a:rPr lang="en-US" sz="1500">
                <a:latin typeface="Consolas"/>
                <a:ea typeface="+mn-lt"/>
                <a:cs typeface="+mn-lt"/>
              </a:rPr>
              <a:t>client.ts</a:t>
            </a:r>
            <a:r>
              <a:rPr lang="en-US" sz="1500">
                <a:ea typeface="+mn-lt"/>
                <a:cs typeface="+mn-lt"/>
              </a:rPr>
              <a:t> – shared API client • </a:t>
            </a:r>
            <a:r>
              <a:rPr lang="en-US" sz="1500">
                <a:latin typeface="Consolas"/>
                <a:ea typeface="+mn-lt"/>
                <a:cs typeface="+mn-lt"/>
              </a:rPr>
              <a:t>useAuth.ts</a:t>
            </a:r>
            <a:r>
              <a:rPr lang="en-US" sz="1500">
                <a:ea typeface="+mn-lt"/>
                <a:cs typeface="+mn-lt"/>
              </a:rPr>
              <a:t> – auth state &amp; JWT handling</a:t>
            </a:r>
            <a:endParaRPr lang="en-US" sz="1500"/>
          </a:p>
          <a:p>
            <a:pPr>
              <a:lnSpc>
                <a:spcPct val="110000"/>
              </a:lnSpc>
              <a:buNone/>
            </a:pPr>
            <a:r>
              <a:rPr lang="en-US" sz="1500" b="1"/>
              <a:t>Backend</a:t>
            </a:r>
          </a:p>
          <a:p>
            <a:pPr>
              <a:lnSpc>
                <a:spcPct val="110000"/>
              </a:lnSpc>
              <a:buNone/>
            </a:pPr>
            <a:r>
              <a:rPr lang="en-US" sz="1500">
                <a:ea typeface="+mn-lt"/>
                <a:cs typeface="+mn-lt"/>
              </a:rPr>
              <a:t>• </a:t>
            </a:r>
            <a:r>
              <a:rPr lang="en-US" sz="1500">
                <a:latin typeface="Consolas"/>
                <a:ea typeface="+mn-lt"/>
                <a:cs typeface="+mn-lt"/>
              </a:rPr>
              <a:t>Program.cs</a:t>
            </a:r>
            <a:r>
              <a:rPr lang="en-US" sz="1500">
                <a:ea typeface="+mn-lt"/>
                <a:cs typeface="+mn-lt"/>
              </a:rPr>
              <a:t> – middleware &amp; pipeline • </a:t>
            </a:r>
            <a:r>
              <a:rPr lang="en-US" sz="1500">
                <a:latin typeface="Consolas"/>
                <a:ea typeface="+mn-lt"/>
                <a:cs typeface="+mn-lt"/>
              </a:rPr>
              <a:t>JobAppEndpoints.cs</a:t>
            </a:r>
            <a:r>
              <a:rPr lang="en-US" sz="1500">
                <a:ea typeface="+mn-lt"/>
                <a:cs typeface="+mn-lt"/>
              </a:rPr>
              <a:t> – feature endpoints • </a:t>
            </a:r>
            <a:r>
              <a:rPr lang="en-US" sz="1500">
                <a:latin typeface="Consolas"/>
                <a:ea typeface="+mn-lt"/>
                <a:cs typeface="+mn-lt"/>
              </a:rPr>
              <a:t>AppDbContext.cs</a:t>
            </a:r>
            <a:r>
              <a:rPr lang="en-US" sz="1500">
                <a:ea typeface="+mn-lt"/>
                <a:cs typeface="+mn-lt"/>
              </a:rPr>
              <a:t> – EF Core data access</a:t>
            </a:r>
            <a:endParaRPr lang="en-US" sz="1500"/>
          </a:p>
          <a:p>
            <a:pPr>
              <a:lnSpc>
                <a:spcPct val="110000"/>
              </a:lnSpc>
              <a:buNone/>
            </a:pPr>
            <a:r>
              <a:rPr lang="en-US" sz="1500">
                <a:ea typeface="+mn-lt"/>
                <a:cs typeface="+mn-lt"/>
              </a:rPr>
              <a:t>This slide proves you understand your own codebase.</a:t>
            </a:r>
            <a:endParaRPr lang="en-US" sz="1500"/>
          </a:p>
          <a:p>
            <a:pPr marL="0" indent="0">
              <a:lnSpc>
                <a:spcPct val="110000"/>
              </a:lnSpc>
              <a:buNone/>
            </a:pPr>
            <a:endParaRPr lang="en-US" sz="1500">
              <a:ea typeface="+mn-lt"/>
              <a:cs typeface="+mn-lt"/>
            </a:endParaRPr>
          </a:p>
        </p:txBody>
      </p:sp>
    </p:spTree>
    <p:extLst>
      <p:ext uri="{BB962C8B-B14F-4D97-AF65-F5344CB8AC3E}">
        <p14:creationId xmlns:p14="http://schemas.microsoft.com/office/powerpoint/2010/main" val="70635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C781C7B-D6F3-6209-62AA-884E5F26C4CA}"/>
              </a:ext>
            </a:extLst>
          </p:cNvPr>
          <p:cNvSpPr>
            <a:spLocks noGrp="1"/>
          </p:cNvSpPr>
          <p:nvPr>
            <p:ph type="title"/>
          </p:nvPr>
        </p:nvSpPr>
        <p:spPr>
          <a:xfrm>
            <a:off x="8270420" y="1387927"/>
            <a:ext cx="3212502" cy="1942773"/>
          </a:xfrm>
        </p:spPr>
        <p:txBody>
          <a:bodyPr anchor="b">
            <a:normAutofit/>
          </a:bodyPr>
          <a:lstStyle/>
          <a:p>
            <a:r>
              <a:rPr lang="en-US" b="0" dirty="0">
                <a:ea typeface="+mj-lt"/>
                <a:cs typeface="+mj-lt"/>
              </a:rPr>
              <a:t>Core Code Block #1 (Backend Logic)</a:t>
            </a:r>
            <a:endParaRPr lang="en-US" dirty="0"/>
          </a:p>
        </p:txBody>
      </p:sp>
      <p:pic>
        <p:nvPicPr>
          <p:cNvPr id="4" name="Content Placeholder 3" descr="A screen shot of a computer program&#10;&#10;AI-generated content may be incorrect.">
            <a:extLst>
              <a:ext uri="{FF2B5EF4-FFF2-40B4-BE49-F238E27FC236}">
                <a16:creationId xmlns:a16="http://schemas.microsoft.com/office/drawing/2014/main" id="{69D1770E-325B-B6D3-A66B-F4932DDBA9AB}"/>
              </a:ext>
            </a:extLst>
          </p:cNvPr>
          <p:cNvPicPr>
            <a:picLocks noChangeAspect="1"/>
          </p:cNvPicPr>
          <p:nvPr/>
        </p:nvPicPr>
        <p:blipFill>
          <a:blip r:embed="rId2"/>
          <a:srcRect r="19478"/>
          <a:stretch>
            <a:fillRect/>
          </a:stretch>
        </p:blipFill>
        <p:spPr>
          <a:xfrm>
            <a:off x="20" y="10"/>
            <a:ext cx="7723393" cy="6857990"/>
          </a:xfrm>
          <a:prstGeom prst="rect">
            <a:avLst/>
          </a:prstGeom>
        </p:spPr>
      </p:pic>
      <p:sp>
        <p:nvSpPr>
          <p:cNvPr id="8" name="Content Placeholder 7">
            <a:extLst>
              <a:ext uri="{FF2B5EF4-FFF2-40B4-BE49-F238E27FC236}">
                <a16:creationId xmlns:a16="http://schemas.microsoft.com/office/drawing/2014/main" id="{16374872-4D89-1C52-E2BF-F67B9A5099FC}"/>
              </a:ext>
            </a:extLst>
          </p:cNvPr>
          <p:cNvSpPr>
            <a:spLocks noGrp="1"/>
          </p:cNvSpPr>
          <p:nvPr>
            <p:ph idx="1"/>
          </p:nvPr>
        </p:nvSpPr>
        <p:spPr>
          <a:xfrm>
            <a:off x="8270420" y="3412998"/>
            <a:ext cx="3212502" cy="2767366"/>
          </a:xfrm>
        </p:spPr>
        <p:txBody>
          <a:bodyPr vert="horz" lIns="91440" tIns="45720" rIns="91440" bIns="45720" rtlCol="0" anchor="t">
            <a:normAutofit fontScale="40000" lnSpcReduction="20000"/>
          </a:bodyPr>
          <a:lstStyle/>
          <a:p>
            <a:r>
              <a:rPr lang="en-US" sz="1800" dirty="0">
                <a:ea typeface="+mn-lt"/>
                <a:cs typeface="+mn-lt"/>
              </a:rPr>
              <a:t>This endpoint lists job applications for the logged-in user.</a:t>
            </a:r>
            <a:endParaRPr lang="en-US" sz="1800" b="1" dirty="0"/>
          </a:p>
          <a:p>
            <a:r>
              <a:rPr lang="en-US" sz="1800" dirty="0">
                <a:ea typeface="+mn-lt"/>
                <a:cs typeface="+mn-lt"/>
              </a:rPr>
              <a:t>I get the user ID from the JWT claims using </a:t>
            </a:r>
            <a:r>
              <a:rPr lang="en-US" sz="1800" dirty="0" err="1">
                <a:ea typeface="+mn-lt"/>
                <a:cs typeface="+mn-lt"/>
              </a:rPr>
              <a:t>NameIdentifier</a:t>
            </a:r>
            <a:r>
              <a:rPr lang="en-US" sz="1800" dirty="0">
                <a:ea typeface="+mn-lt"/>
                <a:cs typeface="+mn-lt"/>
              </a:rPr>
              <a:t>.</a:t>
            </a:r>
            <a:endParaRPr lang="en-US" dirty="0"/>
          </a:p>
          <a:p>
            <a:r>
              <a:rPr lang="en-US" sz="1800" dirty="0">
                <a:ea typeface="+mn-lt"/>
                <a:cs typeface="+mn-lt"/>
              </a:rPr>
              <a:t>Ownership is enforced at the query level with </a:t>
            </a:r>
            <a:r>
              <a:rPr lang="en-US" sz="1800" dirty="0">
                <a:latin typeface="Consolas"/>
              </a:rPr>
              <a:t>Where(</a:t>
            </a:r>
            <a:r>
              <a:rPr lang="en-US" sz="1800" dirty="0" err="1">
                <a:latin typeface="Consolas"/>
              </a:rPr>
              <a:t>UserId</a:t>
            </a:r>
            <a:r>
              <a:rPr lang="en-US" sz="1800" dirty="0">
                <a:latin typeface="Consolas"/>
              </a:rPr>
              <a:t> == </a:t>
            </a:r>
            <a:r>
              <a:rPr lang="en-US" sz="1800" dirty="0" err="1">
                <a:latin typeface="Consolas"/>
              </a:rPr>
              <a:t>userId</a:t>
            </a:r>
            <a:r>
              <a:rPr lang="en-US" sz="1800" dirty="0">
                <a:latin typeface="Consolas"/>
              </a:rPr>
              <a:t>)</a:t>
            </a:r>
            <a:r>
              <a:rPr lang="en-US" sz="1800" dirty="0">
                <a:ea typeface="+mn-lt"/>
                <a:cs typeface="+mn-lt"/>
              </a:rPr>
              <a:t> so users can never access someone else’s data.</a:t>
            </a:r>
            <a:endParaRPr lang="en-US" dirty="0"/>
          </a:p>
          <a:p>
            <a:r>
              <a:rPr lang="en-US" sz="1800" dirty="0">
                <a:ea typeface="+mn-lt"/>
                <a:cs typeface="+mn-lt"/>
              </a:rPr>
              <a:t>I use EF Core with </a:t>
            </a:r>
            <a:r>
              <a:rPr lang="en-US" sz="1800" dirty="0" err="1">
                <a:latin typeface="Consolas"/>
              </a:rPr>
              <a:t>IQueryable</a:t>
            </a:r>
            <a:r>
              <a:rPr lang="en-US" sz="1800" dirty="0">
                <a:ea typeface="+mn-lt"/>
                <a:cs typeface="+mn-lt"/>
              </a:rPr>
              <a:t> so filters like search, status, and paging compose cleanly before the SQL is executed.</a:t>
            </a:r>
            <a:endParaRPr lang="en-US" dirty="0"/>
          </a:p>
          <a:p>
            <a:r>
              <a:rPr lang="en-US" sz="1800" dirty="0" err="1">
                <a:latin typeface="Consolas"/>
              </a:rPr>
              <a:t>AsNoTracking</a:t>
            </a:r>
            <a:r>
              <a:rPr lang="en-US" sz="1800" dirty="0">
                <a:latin typeface="Consolas"/>
              </a:rPr>
              <a:t>()</a:t>
            </a:r>
            <a:r>
              <a:rPr lang="en-US" sz="1800" dirty="0">
                <a:ea typeface="+mn-lt"/>
                <a:cs typeface="+mn-lt"/>
              </a:rPr>
              <a:t> improves read performance since this is a read-only list.</a:t>
            </a:r>
            <a:endParaRPr lang="en-US" dirty="0"/>
          </a:p>
          <a:p>
            <a:r>
              <a:rPr lang="en-US" sz="1800" dirty="0">
                <a:ea typeface="+mn-lt"/>
                <a:cs typeface="+mn-lt"/>
              </a:rPr>
              <a:t>Paging is implemented with </a:t>
            </a:r>
            <a:r>
              <a:rPr lang="en-US" sz="1800" dirty="0">
                <a:latin typeface="Consolas"/>
              </a:rPr>
              <a:t>Skip</a:t>
            </a:r>
            <a:r>
              <a:rPr lang="en-US" sz="1800" dirty="0">
                <a:ea typeface="+mn-lt"/>
                <a:cs typeface="+mn-lt"/>
              </a:rPr>
              <a:t> and </a:t>
            </a:r>
            <a:r>
              <a:rPr lang="en-US" sz="1800" dirty="0">
                <a:latin typeface="Consolas"/>
              </a:rPr>
              <a:t>Take</a:t>
            </a:r>
            <a:r>
              <a:rPr lang="en-US" sz="1800" dirty="0">
                <a:ea typeface="+mn-lt"/>
                <a:cs typeface="+mn-lt"/>
              </a:rPr>
              <a:t> to prevent returning large result sets.</a:t>
            </a:r>
            <a:endParaRPr lang="en-US" dirty="0"/>
          </a:p>
          <a:p>
            <a:r>
              <a:rPr lang="en-US" sz="1800" dirty="0">
                <a:ea typeface="+mn-lt"/>
                <a:cs typeface="+mn-lt"/>
              </a:rPr>
              <a:t>I return DTOs instead of entities so the API contract remains stable and persistence details are not exposed.</a:t>
            </a:r>
            <a:endParaRPr lang="en-US" dirty="0"/>
          </a:p>
          <a:p>
            <a:endParaRPr lang="en-US" sz="1800" b="1" dirty="0"/>
          </a:p>
          <a:p>
            <a:endParaRPr lang="en-US" sz="1800" dirty="0"/>
          </a:p>
        </p:txBody>
      </p:sp>
    </p:spTree>
    <p:extLst>
      <p:ext uri="{BB962C8B-B14F-4D97-AF65-F5344CB8AC3E}">
        <p14:creationId xmlns:p14="http://schemas.microsoft.com/office/powerpoint/2010/main" val="555085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81B67C-8C05-CF37-F61A-CF95EC9AA2D5}"/>
              </a:ext>
            </a:extLst>
          </p:cNvPr>
          <p:cNvSpPr>
            <a:spLocks noGrp="1"/>
          </p:cNvSpPr>
          <p:nvPr>
            <p:ph type="title"/>
          </p:nvPr>
        </p:nvSpPr>
        <p:spPr>
          <a:xfrm>
            <a:off x="612648" y="603504"/>
            <a:ext cx="3553412" cy="1527048"/>
          </a:xfrm>
        </p:spPr>
        <p:txBody>
          <a:bodyPr anchor="b">
            <a:normAutofit fontScale="90000"/>
          </a:bodyPr>
          <a:lstStyle/>
          <a:p>
            <a:r>
              <a:rPr lang="en-US" b="0" dirty="0">
                <a:ea typeface="+mj-lt"/>
                <a:cs typeface="+mj-lt"/>
              </a:rPr>
              <a:t>Core Code Block #2 (Frontend Logic)</a:t>
            </a:r>
            <a:endParaRPr lang="en-US" dirty="0"/>
          </a:p>
        </p:txBody>
      </p:sp>
      <p:sp>
        <p:nvSpPr>
          <p:cNvPr id="8" name="Content Placeholder 7">
            <a:extLst>
              <a:ext uri="{FF2B5EF4-FFF2-40B4-BE49-F238E27FC236}">
                <a16:creationId xmlns:a16="http://schemas.microsoft.com/office/drawing/2014/main" id="{8DE5A238-76DC-4B6D-E961-EE5BEEA0C0E1}"/>
              </a:ext>
            </a:extLst>
          </p:cNvPr>
          <p:cNvSpPr>
            <a:spLocks noGrp="1"/>
          </p:cNvSpPr>
          <p:nvPr>
            <p:ph idx="1"/>
          </p:nvPr>
        </p:nvSpPr>
        <p:spPr>
          <a:xfrm>
            <a:off x="612648" y="2212848"/>
            <a:ext cx="3553412" cy="4122420"/>
          </a:xfrm>
        </p:spPr>
        <p:txBody>
          <a:bodyPr vert="horz" lIns="91440" tIns="45720" rIns="91440" bIns="45720" rtlCol="0" anchor="t">
            <a:normAutofit/>
          </a:bodyPr>
          <a:lstStyle/>
          <a:p>
            <a:r>
              <a:rPr lang="en-US" sz="1800" dirty="0">
                <a:ea typeface="+mn-lt"/>
                <a:cs typeface="+mn-lt"/>
              </a:rPr>
              <a:t>Handles Kanban drag-and-drop status changes</a:t>
            </a:r>
            <a:endParaRPr lang="en-US" sz="1800" dirty="0"/>
          </a:p>
          <a:p>
            <a:r>
              <a:rPr lang="en-US" sz="1800" dirty="0">
                <a:ea typeface="+mn-lt"/>
                <a:cs typeface="+mn-lt"/>
              </a:rPr>
              <a:t>Uses optimistic UI updates for immediate feedback</a:t>
            </a:r>
            <a:endParaRPr lang="en-US" dirty="0"/>
          </a:p>
          <a:p>
            <a:r>
              <a:rPr lang="en-US" sz="1800" dirty="0">
                <a:ea typeface="+mn-lt"/>
                <a:cs typeface="+mn-lt"/>
              </a:rPr>
              <a:t>Sends minimal PATCH request to backend API</a:t>
            </a:r>
            <a:endParaRPr lang="en-US" dirty="0"/>
          </a:p>
          <a:p>
            <a:r>
              <a:rPr lang="en-US" sz="1800" dirty="0">
                <a:ea typeface="+mn-lt"/>
                <a:cs typeface="+mn-lt"/>
              </a:rPr>
              <a:t>Rolls back UI state if the request fails</a:t>
            </a:r>
            <a:endParaRPr lang="en-US" dirty="0">
              <a:ea typeface="+mn-lt"/>
              <a:cs typeface="+mn-lt"/>
            </a:endParaRPr>
          </a:p>
          <a:p>
            <a:r>
              <a:rPr lang="en-US" sz="1800" dirty="0">
                <a:ea typeface="+mn-lt"/>
                <a:cs typeface="+mn-lt"/>
              </a:rPr>
              <a:t>Keeps frontend state consistent with backend data</a:t>
            </a:r>
            <a:endParaRPr lang="en-US" dirty="0"/>
          </a:p>
          <a:p>
            <a:endParaRPr lang="en-US" sz="1800" dirty="0"/>
          </a:p>
        </p:txBody>
      </p:sp>
      <p:pic>
        <p:nvPicPr>
          <p:cNvPr id="4" name="Content Placeholder 3" descr="A screenshot of a computer program&#10;&#10;AI-generated content may be incorrect.">
            <a:extLst>
              <a:ext uri="{FF2B5EF4-FFF2-40B4-BE49-F238E27FC236}">
                <a16:creationId xmlns:a16="http://schemas.microsoft.com/office/drawing/2014/main" id="{66DA3A7B-FB82-6F79-2FC5-9E8E3F2EE54E}"/>
              </a:ext>
            </a:extLst>
          </p:cNvPr>
          <p:cNvPicPr>
            <a:picLocks noChangeAspect="1"/>
          </p:cNvPicPr>
          <p:nvPr/>
        </p:nvPicPr>
        <p:blipFill>
          <a:blip r:embed="rId3"/>
          <a:srcRect r="3183"/>
          <a:stretch>
            <a:fillRect/>
          </a:stretch>
        </p:blipFill>
        <p:spPr>
          <a:xfrm>
            <a:off x="4752550" y="10"/>
            <a:ext cx="7439450" cy="6857990"/>
          </a:xfrm>
          <a:prstGeom prst="rect">
            <a:avLst/>
          </a:prstGeom>
        </p:spPr>
      </p:pic>
    </p:spTree>
    <p:extLst>
      <p:ext uri="{BB962C8B-B14F-4D97-AF65-F5344CB8AC3E}">
        <p14:creationId xmlns:p14="http://schemas.microsoft.com/office/powerpoint/2010/main" val="357574923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F60856-9424-C5B9-FC01-7DADED64BBA4}"/>
              </a:ext>
            </a:extLst>
          </p:cNvPr>
          <p:cNvSpPr>
            <a:spLocks noGrp="1"/>
          </p:cNvSpPr>
          <p:nvPr>
            <p:ph type="title"/>
          </p:nvPr>
        </p:nvSpPr>
        <p:spPr>
          <a:xfrm>
            <a:off x="612648" y="1114923"/>
            <a:ext cx="4621553" cy="1360728"/>
          </a:xfrm>
        </p:spPr>
        <p:txBody>
          <a:bodyPr anchor="b">
            <a:normAutofit/>
          </a:bodyPr>
          <a:lstStyle/>
          <a:p>
            <a:r>
              <a:rPr lang="en-US" b="0" dirty="0">
                <a:ea typeface="+mj-lt"/>
                <a:cs typeface="+mj-lt"/>
              </a:rPr>
              <a:t>Data and Security Design</a:t>
            </a:r>
            <a:endParaRPr lang="en-US" dirty="0"/>
          </a:p>
        </p:txBody>
      </p:sp>
      <p:sp>
        <p:nvSpPr>
          <p:cNvPr id="3" name="Content Placeholder 2">
            <a:extLst>
              <a:ext uri="{FF2B5EF4-FFF2-40B4-BE49-F238E27FC236}">
                <a16:creationId xmlns:a16="http://schemas.microsoft.com/office/drawing/2014/main" id="{898E3586-9609-A859-8D80-7B1518A16459}"/>
              </a:ext>
            </a:extLst>
          </p:cNvPr>
          <p:cNvSpPr>
            <a:spLocks noGrp="1"/>
          </p:cNvSpPr>
          <p:nvPr>
            <p:ph idx="1"/>
          </p:nvPr>
        </p:nvSpPr>
        <p:spPr>
          <a:xfrm>
            <a:off x="612648" y="2584058"/>
            <a:ext cx="4621553" cy="3159018"/>
          </a:xfrm>
        </p:spPr>
        <p:txBody>
          <a:bodyPr vert="horz" lIns="91440" tIns="45720" rIns="91440" bIns="45720" rtlCol="0">
            <a:normAutofit/>
          </a:bodyPr>
          <a:lstStyle/>
          <a:p>
            <a:pPr>
              <a:lnSpc>
                <a:spcPct val="110000"/>
              </a:lnSpc>
            </a:pPr>
            <a:r>
              <a:rPr lang="en-US" sz="1500" dirty="0">
                <a:ea typeface="+mn-lt"/>
                <a:cs typeface="+mn-lt"/>
              </a:rPr>
              <a:t>JWT-based authentication on every request</a:t>
            </a:r>
            <a:endParaRPr lang="en-US" sz="1500" dirty="0"/>
          </a:p>
          <a:p>
            <a:pPr>
              <a:lnSpc>
                <a:spcPct val="110000"/>
              </a:lnSpc>
            </a:pPr>
            <a:r>
              <a:rPr lang="en-US" sz="1500" dirty="0">
                <a:ea typeface="+mn-lt"/>
                <a:cs typeface="+mn-lt"/>
              </a:rPr>
              <a:t>Authorization enforced at the data access layer</a:t>
            </a:r>
            <a:endParaRPr lang="en-US" sz="1500" dirty="0"/>
          </a:p>
          <a:p>
            <a:pPr>
              <a:lnSpc>
                <a:spcPct val="110000"/>
              </a:lnSpc>
            </a:pPr>
            <a:r>
              <a:rPr lang="en-US" sz="1500" dirty="0">
                <a:ea typeface="+mn-lt"/>
                <a:cs typeface="+mn-lt"/>
              </a:rPr>
              <a:t>EF Core queries scoped by authenticated user</a:t>
            </a:r>
            <a:endParaRPr lang="en-US" sz="1500"/>
          </a:p>
          <a:p>
            <a:pPr>
              <a:lnSpc>
                <a:spcPct val="110000"/>
              </a:lnSpc>
            </a:pPr>
            <a:r>
              <a:rPr lang="en-US" sz="1500" dirty="0">
                <a:ea typeface="+mn-lt"/>
                <a:cs typeface="+mn-lt"/>
              </a:rPr>
              <a:t>Attachments stored in AWS S3 with metadata in the database</a:t>
            </a:r>
            <a:endParaRPr lang="en-US" sz="1500" dirty="0"/>
          </a:p>
          <a:p>
            <a:pPr>
              <a:lnSpc>
                <a:spcPct val="110000"/>
              </a:lnSpc>
            </a:pPr>
            <a:r>
              <a:rPr lang="en-US" sz="1500" dirty="0">
                <a:ea typeface="+mn-lt"/>
                <a:cs typeface="+mn-lt"/>
              </a:rPr>
              <a:t>Defense-in-depth across frontend and backend</a:t>
            </a:r>
            <a:endParaRPr lang="en-US" sz="1500" dirty="0"/>
          </a:p>
          <a:p>
            <a:pPr>
              <a:lnSpc>
                <a:spcPct val="110000"/>
              </a:lnSpc>
            </a:pPr>
            <a:endParaRPr lang="en-US" sz="1500"/>
          </a:p>
        </p:txBody>
      </p:sp>
      <p:pic>
        <p:nvPicPr>
          <p:cNvPr id="7" name="Graphic 6" descr="Lock">
            <a:extLst>
              <a:ext uri="{FF2B5EF4-FFF2-40B4-BE49-F238E27FC236}">
                <a16:creationId xmlns:a16="http://schemas.microsoft.com/office/drawing/2014/main" id="{99236184-3E80-DD77-793D-13E9CE12E5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2218718511"/>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B17B-6276-6650-5458-18FA09476753}"/>
              </a:ext>
            </a:extLst>
          </p:cNvPr>
          <p:cNvSpPr>
            <a:spLocks noGrp="1"/>
          </p:cNvSpPr>
          <p:nvPr>
            <p:ph type="title"/>
          </p:nvPr>
        </p:nvSpPr>
        <p:spPr/>
        <p:txBody>
          <a:bodyPr/>
          <a:lstStyle/>
          <a:p>
            <a:r>
              <a:rPr lang="en-US" b="0" dirty="0">
                <a:ea typeface="+mj-lt"/>
                <a:cs typeface="+mj-lt"/>
              </a:rPr>
              <a:t>Tradeoffs and Design Decisions</a:t>
            </a:r>
            <a:endParaRPr lang="en-US" dirty="0">
              <a:ea typeface="+mj-lt"/>
              <a:cs typeface="+mj-lt"/>
            </a:endParaRPr>
          </a:p>
        </p:txBody>
      </p:sp>
      <p:sp>
        <p:nvSpPr>
          <p:cNvPr id="3" name="Content Placeholder 2">
            <a:extLst>
              <a:ext uri="{FF2B5EF4-FFF2-40B4-BE49-F238E27FC236}">
                <a16:creationId xmlns:a16="http://schemas.microsoft.com/office/drawing/2014/main" id="{8A955F00-738A-8321-5399-B9B40CDCD246}"/>
              </a:ext>
            </a:extLst>
          </p:cNvPr>
          <p:cNvSpPr>
            <a:spLocks noGrp="1"/>
          </p:cNvSpPr>
          <p:nvPr>
            <p:ph idx="1"/>
          </p:nvPr>
        </p:nvSpPr>
        <p:spPr/>
        <p:txBody>
          <a:bodyPr vert="horz" lIns="91440" tIns="45720" rIns="91440" bIns="45720" rtlCol="0" anchor="t">
            <a:normAutofit/>
          </a:bodyPr>
          <a:lstStyle/>
          <a:p>
            <a:r>
              <a:rPr lang="en-US" dirty="0">
                <a:ea typeface="+mn-lt"/>
                <a:cs typeface="+mn-lt"/>
              </a:rPr>
              <a:t>Minimal APIs for explicit routing and reduced boilerplate</a:t>
            </a:r>
            <a:endParaRPr lang="en-US" dirty="0"/>
          </a:p>
          <a:p>
            <a:r>
              <a:rPr lang="en-US" dirty="0">
                <a:ea typeface="+mn-lt"/>
                <a:cs typeface="+mn-lt"/>
              </a:rPr>
              <a:t>EF Core for strongly typed data access and provider flexibility</a:t>
            </a:r>
            <a:endParaRPr lang="en-US" dirty="0"/>
          </a:p>
          <a:p>
            <a:r>
              <a:rPr lang="en-US" dirty="0">
                <a:ea typeface="+mn-lt"/>
                <a:cs typeface="+mn-lt"/>
              </a:rPr>
              <a:t>Optimistic UI updates balanced with rollback logic</a:t>
            </a:r>
            <a:endParaRPr lang="en-US" dirty="0"/>
          </a:p>
          <a:p>
            <a:r>
              <a:rPr lang="en-US" dirty="0">
                <a:ea typeface="+mn-lt"/>
                <a:cs typeface="+mn-lt"/>
              </a:rPr>
              <a:t>Separate attachment handling for clean boundaries</a:t>
            </a:r>
            <a:endParaRPr lang="en-US" dirty="0"/>
          </a:p>
          <a:p>
            <a:r>
              <a:rPr lang="en-US" dirty="0">
                <a:ea typeface="+mn-lt"/>
                <a:cs typeface="+mn-lt"/>
              </a:rPr>
              <a:t>Simplicity prioritized where appropriate</a:t>
            </a:r>
            <a:endParaRPr lang="en-US" dirty="0"/>
          </a:p>
          <a:p>
            <a:endParaRPr lang="en-US" dirty="0"/>
          </a:p>
        </p:txBody>
      </p:sp>
    </p:spTree>
    <p:extLst>
      <p:ext uri="{BB962C8B-B14F-4D97-AF65-F5344CB8AC3E}">
        <p14:creationId xmlns:p14="http://schemas.microsoft.com/office/powerpoint/2010/main" val="207508111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C071F-21A3-FEAC-C33A-597A62AD0837}"/>
              </a:ext>
            </a:extLst>
          </p:cNvPr>
          <p:cNvSpPr>
            <a:spLocks noGrp="1"/>
          </p:cNvSpPr>
          <p:nvPr>
            <p:ph type="title"/>
          </p:nvPr>
        </p:nvSpPr>
        <p:spPr>
          <a:xfrm>
            <a:off x="612648" y="548640"/>
            <a:ext cx="10945037" cy="1133856"/>
          </a:xfrm>
        </p:spPr>
        <p:txBody>
          <a:bodyPr anchor="t">
            <a:normAutofit/>
          </a:bodyPr>
          <a:lstStyle/>
          <a:p>
            <a:r>
              <a:rPr lang="en-US" b="0" dirty="0">
                <a:ea typeface="+mj-lt"/>
                <a:cs typeface="+mj-lt"/>
              </a:rPr>
              <a:t>Challenges and What I Learned</a:t>
            </a:r>
            <a:endParaRPr lang="en-US" dirty="0"/>
          </a:p>
        </p:txBody>
      </p:sp>
      <p:graphicFrame>
        <p:nvGraphicFramePr>
          <p:cNvPr id="5" name="Content Placeholder 2">
            <a:extLst>
              <a:ext uri="{FF2B5EF4-FFF2-40B4-BE49-F238E27FC236}">
                <a16:creationId xmlns:a16="http://schemas.microsoft.com/office/drawing/2014/main" id="{1AEB038B-25A9-BC49-A031-C3CF0B4359F6}"/>
              </a:ext>
            </a:extLst>
          </p:cNvPr>
          <p:cNvGraphicFramePr>
            <a:graphicFrameLocks noGrp="1"/>
          </p:cNvGraphicFramePr>
          <p:nvPr>
            <p:ph idx="1"/>
            <p:extLst>
              <p:ext uri="{D42A27DB-BD31-4B8C-83A1-F6EECF244321}">
                <p14:modId xmlns:p14="http://schemas.microsoft.com/office/powerpoint/2010/main" val="2407509566"/>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2384559"/>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5A9D49-8438-CF93-5726-631FD4DF4132}"/>
              </a:ext>
            </a:extLst>
          </p:cNvPr>
          <p:cNvSpPr>
            <a:spLocks noGrp="1"/>
          </p:cNvSpPr>
          <p:nvPr>
            <p:ph type="title"/>
          </p:nvPr>
        </p:nvSpPr>
        <p:spPr>
          <a:xfrm>
            <a:off x="612648" y="1114923"/>
            <a:ext cx="4621553" cy="1360728"/>
          </a:xfrm>
        </p:spPr>
        <p:txBody>
          <a:bodyPr anchor="b">
            <a:normAutofit/>
          </a:bodyPr>
          <a:lstStyle/>
          <a:p>
            <a:r>
              <a:rPr lang="en-US" dirty="0"/>
              <a:t>Wrapping up &amp; Demo</a:t>
            </a:r>
          </a:p>
        </p:txBody>
      </p:sp>
      <p:sp>
        <p:nvSpPr>
          <p:cNvPr id="3" name="Content Placeholder 2">
            <a:extLst>
              <a:ext uri="{FF2B5EF4-FFF2-40B4-BE49-F238E27FC236}">
                <a16:creationId xmlns:a16="http://schemas.microsoft.com/office/drawing/2014/main" id="{BA17435E-A631-B4EF-9110-51FD1F12E349}"/>
              </a:ext>
            </a:extLst>
          </p:cNvPr>
          <p:cNvSpPr>
            <a:spLocks noGrp="1"/>
          </p:cNvSpPr>
          <p:nvPr>
            <p:ph idx="1"/>
          </p:nvPr>
        </p:nvSpPr>
        <p:spPr>
          <a:xfrm>
            <a:off x="612648" y="2584058"/>
            <a:ext cx="4621553" cy="3159018"/>
          </a:xfrm>
        </p:spPr>
        <p:txBody>
          <a:bodyPr vert="horz" lIns="91440" tIns="45720" rIns="91440" bIns="45720" rtlCol="0">
            <a:normAutofit/>
          </a:bodyPr>
          <a:lstStyle/>
          <a:p>
            <a:r>
              <a:rPr lang="en-US" sz="1800">
                <a:ea typeface="+mn-lt"/>
                <a:cs typeface="+mn-lt"/>
              </a:rPr>
              <a:t>Live demo of core workflows: https://jobtracker-b0k3.onrender.com</a:t>
            </a:r>
            <a:endParaRPr lang="en-US" sz="1800"/>
          </a:p>
          <a:p>
            <a:r>
              <a:rPr lang="en-US" sz="1800">
                <a:ea typeface="+mn-lt"/>
                <a:cs typeface="+mn-lt"/>
              </a:rPr>
              <a:t>Quick codebase orientation</a:t>
            </a:r>
            <a:endParaRPr lang="en-US" sz="1800"/>
          </a:p>
          <a:p>
            <a:r>
              <a:rPr lang="en-US" sz="1800">
                <a:ea typeface="+mn-lt"/>
                <a:cs typeface="+mn-lt"/>
              </a:rPr>
              <a:t>Key takeaways from the project</a:t>
            </a:r>
            <a:endParaRPr lang="en-US" sz="1800"/>
          </a:p>
          <a:p>
            <a:r>
              <a:rPr lang="en-US" sz="1800">
                <a:ea typeface="+mn-lt"/>
                <a:cs typeface="+mn-lt"/>
              </a:rPr>
              <a:t>Open to questions and deep dives</a:t>
            </a:r>
            <a:endParaRPr lang="en-US" sz="1800"/>
          </a:p>
          <a:p>
            <a:endParaRPr lang="en-US" sz="1800"/>
          </a:p>
        </p:txBody>
      </p:sp>
      <p:pic>
        <p:nvPicPr>
          <p:cNvPr id="7" name="Graphic 6" descr="Teacher">
            <a:extLst>
              <a:ext uri="{FF2B5EF4-FFF2-40B4-BE49-F238E27FC236}">
                <a16:creationId xmlns:a16="http://schemas.microsoft.com/office/drawing/2014/main" id="{4A04BBFD-A29F-E407-3C2F-4599C2A46F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69485519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VanillaVTI</vt:lpstr>
      <vt:lpstr>Job Tracker</vt:lpstr>
      <vt:lpstr>Problem Statement</vt:lpstr>
      <vt:lpstr>High-Level Architecture</vt:lpstr>
      <vt:lpstr>Codebase Map (Important Files)</vt:lpstr>
      <vt:lpstr>Core Code Block #1 (Backend Logic)</vt:lpstr>
      <vt:lpstr>Core Code Block #2 (Frontend Logic)</vt:lpstr>
      <vt:lpstr>Data and Security Design</vt:lpstr>
      <vt:lpstr>Tradeoffs and Design Decisions</vt:lpstr>
      <vt:lpstr>Challenges and What I Learned</vt:lpstr>
      <vt:lpstr>Wrapping up &amp;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134</cp:revision>
  <dcterms:created xsi:type="dcterms:W3CDTF">2026-01-24T00:09:06Z</dcterms:created>
  <dcterms:modified xsi:type="dcterms:W3CDTF">2026-01-24T08:19:42Z</dcterms:modified>
</cp:coreProperties>
</file>